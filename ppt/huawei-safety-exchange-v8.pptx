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4" Type="http://schemas.openxmlformats.org/officeDocument/2006/relationships/presProps" Target="presProps.xml" /><Relationship Id="rId13" Type="http://schemas.openxmlformats.org/officeDocument/2006/relationships/notesMaster" Target="notesMasters/notesMaster1.xml" /><Relationship Id="rId12" Type="http://schemas.openxmlformats.org/officeDocument/2006/relationships/slide" Target="slides/slide12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&gt;&#10;  &lt;Image src=&quot;C:/Users/yuanzhiqian/WorkBuddy/Claw/面向华为安全交流v8/assets/cover_metro.png&quot; style={{ position: 'absolute', top: 0, left: 0, width: 1280, height: 720, objectFit: 'cover' }} /&gt;&#10;  &lt;Box style={{ position: 'absolute', top: 0, left: 0, width: 1280, height: 720, background: 'linear-gradient(135deg, rgba(15,42,94,0.55) 0%, rgba(30,64,175,0.68) 100%)' }} /&gt;&#10;  &lt;Box style={{ position: 'absolute', top: 150, left: 80, width: 1000 }}&gt;&#10;    &lt;Text style={{ fontSize: 18, fontWeight: 'bold', color: '#7DD3FC', letterSpacing: 3 }}&gt;SHANGHAI METRO × HUAWEI · 安全交流&lt;/Text&gt;&#10;  &lt;/Box&gt;&#10;  &lt;Box style={{ position: 'absolute', top: 210, left: 80, width: 1040 }}&gt;&#10;    &lt;Text style={{ fontSize: 64, fontWeight: 'bold', color: '#FFFFFF', lineHeight: 1.2 }}&gt;&#10;      面向华为的&lt;span style={{ color: '#0EA5E9' }}&gt;安全交流&lt;/span&gt;&#10;    &lt;/Text&gt;&#10;  &lt;/Box&gt;&#10;  &lt;Box style={{ position: 'absolute', top: 420, left: 80, width: 1000 }}&gt;&#10;    &lt;Text style={{ fontSize: 26, color: '#E0ECFF' }}&gt;把运营安全，交给能陪跑 15 年的伙伴&lt;/Text&gt;&#10;  &lt;/Box&gt;&#10;  &lt;Box style={{ position: 'absolute', bottom: 72, left: 80, width: 1000, display: 'flex', flexDirection: 'column', gap: 8 }}&gt;&#10;    &lt;Text style={{ fontSize: 18, color: '#C7D6F0' }}&gt;上海地铁维保通号分公司 · 分管通信专业（技防、无线）&lt;/Text&gt;&#10;    &lt;Text style={{ fontSize: 18, color: '#C7D6F0' }}&gt;2026 年 9 月&lt;/Text&gt;&#10;  &lt;/Box&gt;&#10;  &lt;Text style={{ position: 'absolute', bottom: 44, right: 80, fontSize: 14, color: '#9DB2D6' }}&gt;01 / 1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A5E">
                  <a:alpha val="55000"/>
                </a:srgbClr>
              </a:gs>
              <a:gs pos="100000">
                <a:srgbClr val="1E40AF">
                  <a:alpha val="68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1428750"/>
            <a:ext cx="952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225">
                <a:solidFill>
                  <a:srgbClr val="7DD3FC"/>
                </a:solidFill>
                <a:latin typeface="Microsoft YaHei"/>
                <a:ea typeface="Microsoft YaHei"/>
              </a:rPr>
              <a:t>SHANGHAI METRO × HUAWEI · </a:t>
            </a:r>
            <a:r>
              <a:rPr lang="zh-CN" sz="1350" b="1" spc="225">
                <a:solidFill>
                  <a:srgbClr val="7DD3FC"/>
                </a:solidFill>
                <a:latin typeface="Microsoft YaHei"/>
                <a:ea typeface="Microsoft YaHei"/>
              </a:rPr>
              <a:t>安全交流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2000250"/>
            <a:ext cx="9906000" cy="8858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面向华为的</a:t>
            </a:r>
            <a:r>
              <a:rPr lang="zh-CN" sz="4800" b="1">
                <a:solidFill>
                  <a:srgbClr val="0EA5E9"/>
                </a:solidFill>
                <a:latin typeface="Microsoft YaHei"/>
                <a:ea typeface="Microsoft YaHei"/>
              </a:rPr>
              <a:t>安全交流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4000500"/>
            <a:ext cx="9525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E0ECFF"/>
                </a:solidFill>
                <a:latin typeface="Microsoft YaHei"/>
                <a:ea typeface="Microsoft YaHei"/>
              </a:rPr>
              <a:t>把运营安全，交给能陪跑</a:t>
            </a:r>
            <a:r>
              <a:rPr lang="en-US" sz="1950">
                <a:solidFill>
                  <a:srgbClr val="E0ECFF"/>
                </a:solidFill>
                <a:latin typeface="Microsoft YaHei"/>
                <a:ea typeface="Microsoft YaHei"/>
              </a:rPr>
              <a:t> 15 </a:t>
            </a:r>
            <a:r>
              <a:rPr lang="zh-CN" sz="1950">
                <a:solidFill>
                  <a:srgbClr val="E0ECFF"/>
                </a:solidFill>
                <a:latin typeface="Microsoft YaHei"/>
                <a:ea typeface="Microsoft YaHei"/>
              </a:rPr>
              <a:t>年的伙伴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5676900"/>
            <a:ext cx="952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7D6F0"/>
                </a:solidFill>
                <a:latin typeface="Microsoft YaHei"/>
                <a:ea typeface="Microsoft YaHei"/>
              </a:rPr>
              <a:t>上海地铁维保通号分公司</a:t>
            </a:r>
            <a:r>
              <a:rPr lang="en-US" sz="1350">
                <a:solidFill>
                  <a:srgbClr val="C7D6F0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C7D6F0"/>
                </a:solidFill>
                <a:latin typeface="Microsoft YaHei"/>
                <a:ea typeface="Microsoft YaHei"/>
              </a:rPr>
              <a:t>分管通信专业（技防、无线）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5962650"/>
            <a:ext cx="952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C7D6F0"/>
                </a:solidFill>
                <a:latin typeface="Microsoft YaHei"/>
                <a:ea typeface="Microsoft YaHei"/>
              </a:rPr>
              <a:t>2026 </a:t>
            </a:r>
            <a:r>
              <a:rPr lang="zh-CN" sz="1350">
                <a:solidFill>
                  <a:srgbClr val="C7D6F0"/>
                </a:solidFill>
                <a:latin typeface="Microsoft YaHei"/>
                <a:ea typeface="Microsoft YaHei"/>
              </a:rPr>
              <a:t>年</a:t>
            </a:r>
            <a:r>
              <a:rPr lang="en-US" sz="1350">
                <a:solidFill>
                  <a:srgbClr val="C7D6F0"/>
                </a:solidFill>
                <a:latin typeface="Microsoft YaHei"/>
                <a:ea typeface="Microsoft YaHei"/>
              </a:rPr>
              <a:t> 9 </a:t>
            </a:r>
            <a:r>
              <a:rPr lang="zh-CN" sz="1350">
                <a:solidFill>
                  <a:srgbClr val="C7D6F0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0972800" y="62769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DB2D6"/>
                </a:solidFill>
                <a:latin typeface="Microsoft YaHei"/>
                <a:ea typeface="Microsoft YaHei"/>
              </a:rPr>
              <a:t>01 / 12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60" name="" descr="&lt;Slide&gt;&#10;  &lt;Box style={{ position: 'absolute', top: 0, left: 0, width: 1280, height: 720, background: '#FFFFFF' }} /&gt;&#10;  &lt;Box style={{ position: 'absolute', top: 0, left: 0, width: 1280, height: 120, padding: '20px 60px', display: 'flex', flexDirection: 'column', justifyContent: 'center' }}&gt;&#10;    &lt;Text style={{ fontSize: 13, fontWeight: 'bold', color: '#0EA5E9', letterSpacing: 2 }}&gt;AGENDA · 交流结构&lt;/Text&gt;&#10;    &lt;Text style={{ fontSize: 34, fontWeight: 'bold', color: '#1E293B' }}&gt;今天聊什么&lt;/Text&gt;&#10;  &lt;/Box&gt;&#10;  &lt;Box style={{ position: 'absolute', top: 140, left: 60, width: 1160, height: 500, display: 'flex', flexDirection: 'column', gap: 18 }}&gt;&#10;    {[&#10;      { n: '1', t: '运营安全为什么重', d: '千万级客流的城市基础设施，通信信号运行安全直接关系市民出行与城市运行。' },&#10;      { n: '2', t: '我们对安全的重视', d: '安全评估、安全月、运营安全大概念，安全理念贯穿系统规划到退役全过程。' },&#10;      { n: '3', t: '四环节怎么守', d: '规划设计、建设执行、运维保障、全生命周期，四个环节环环相扣、缺一不可。' },&#10;      { n: '4', t: '15 年长期共建', d: '华为作为战略合作伙伴，在每一环节的关键作用与可深化的合作点。' },&#10;    ].map((it, i) =&gt; (&#10;      &lt;Box key={i} style={{ display: 'flex', flexDirection: 'row', alignItems: 'center', gap: 20, background: '#F8FAFC', border: '1px solid #E2E8F0', borderRadius: 12, padding: '18px 24px' }}&gt;&#10;        &lt;Box style={{ width: 48, height: 48, borderRadius: 24, background: 'linear-gradient(135deg,#2563EB,#0EA5E9)', display: 'flex', alignItems: 'center', justifyContent: 'center', flexShrink: 0 }}&gt;&#10;          &lt;Text style={{ fontSize: 22, fontWeight: 'bold', color: '#FFFFFF' }}&gt;{it.n}&lt;/Text&gt;&#10;        &lt;/Box&gt;&#10;        &lt;Box style={{ display: 'flex', flexDirection: 'column', gap: 4 }}&gt;&#10;          &lt;Text style={{ fontSize: 24, fontWeight: 'bold', color: '#1E293B' }}&gt;{it.t}&lt;/Text&gt;&#10;          &lt;Text style={{ fontSize: 16, color: '#64748B', lineHeight: 1.5 }}&gt;{it.d}&lt;/Text&gt;&#10;        &lt;/Box&gt;&#10;      &lt;/Box&gt;&#10;    ))}&#10;  &lt;/Box&gt;&#10;  &lt;Box style={{ position: 'absolute', top: 660, left: 60, width: 1160, height: 60, display: 'flex', justifyContent: 'space-between', alignItems: 'center' }}&gt;&#10;    &lt;Text style={{ fontSize: 14, color: '#64748B' }}&gt;上海地铁通号 × 华为 安全交流&lt;/Text&gt;&#10;    &lt;Text style={{ fontSize: 14, color: '#64748B' }}&gt;02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11049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EA5E9"/>
                </a:solidFill>
                <a:latin typeface="Microsoft YaHei"/>
                <a:ea typeface="Microsoft YaHei"/>
              </a:rPr>
              <a:t>AGENDA · </a:t>
            </a:r>
            <a:r>
              <a:rPr lang="zh-CN" sz="975" b="1" spc="150">
                <a:solidFill>
                  <a:srgbClr val="0EA5E9"/>
                </a:solidFill>
                <a:latin typeface="Microsoft YaHei"/>
                <a:ea typeface="Microsoft YaHei"/>
              </a:rPr>
              <a:t>交流结构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71500" y="4572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今天聊什么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571500" y="1333500"/>
            <a:ext cx="11049000" cy="933450"/>
          </a:xfrm>
          <a:prstGeom prst="roundRect">
            <a:avLst>
              <a:gd name="adj" fmla="val 122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800100" y="1571625"/>
            <a:ext cx="457200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962025" y="16764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447800" y="1504950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293B"/>
                </a:solidFill>
                <a:latin typeface="Microsoft YaHei"/>
                <a:ea typeface="Microsoft YaHei"/>
              </a:rPr>
              <a:t>运营安全为什么重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447800" y="1819275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千万级客流的城市基础设施，通信信号运行安全直接关系市民出行与城市运行。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571500" y="2438400"/>
            <a:ext cx="11049000" cy="933450"/>
          </a:xfrm>
          <a:prstGeom prst="roundRect">
            <a:avLst>
              <a:gd name="adj" fmla="val 122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800100" y="2676525"/>
            <a:ext cx="457200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962025" y="27813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447800" y="2609850"/>
            <a:ext cx="518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293B"/>
                </a:solidFill>
                <a:latin typeface="Microsoft YaHei"/>
                <a:ea typeface="Microsoft YaHei"/>
              </a:rPr>
              <a:t>我们对安全的重视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447800" y="2924175"/>
            <a:ext cx="5181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安全评估、安全月、运营安全大概念，安全理念贯穿系统规划到退役全过程。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571500" y="3543300"/>
            <a:ext cx="11049000" cy="933450"/>
          </a:xfrm>
          <a:prstGeom prst="roundRect">
            <a:avLst>
              <a:gd name="adj" fmla="val 122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800100" y="3781425"/>
            <a:ext cx="457200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962025" y="38862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447800" y="3714750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293B"/>
                </a:solidFill>
                <a:latin typeface="Microsoft YaHei"/>
                <a:ea typeface="Microsoft YaHei"/>
              </a:rPr>
              <a:t>四环节怎么守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447800" y="4029075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规划设计、建设执行、运维保障、全生命周期，四个环节环环相扣、缺一不可。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571500" y="4648200"/>
            <a:ext cx="11049000" cy="933450"/>
          </a:xfrm>
          <a:prstGeom prst="roundRect">
            <a:avLst>
              <a:gd name="adj" fmla="val 122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800100" y="4886325"/>
            <a:ext cx="457200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962025" y="49911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447800" y="4819650"/>
            <a:ext cx="4572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293B"/>
                </a:solidFill>
                <a:latin typeface="Microsoft YaHei"/>
                <a:ea typeface="Microsoft YaHei"/>
              </a:rPr>
              <a:t>15 </a:t>
            </a:r>
            <a:r>
              <a:rPr lang="zh-CN" sz="1800" b="1">
                <a:solidFill>
                  <a:srgbClr val="1E293B"/>
                </a:solidFill>
                <a:latin typeface="Microsoft YaHei"/>
                <a:ea typeface="Microsoft YaHei"/>
              </a:rPr>
              <a:t>年长期共建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447800" y="5133975"/>
            <a:ext cx="4572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华为作为战略合作伙伴，在每一环节的关键作用与可深化的合作点。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819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上海地铁通号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×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华为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安全交流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86" name="" descr="&lt;Slide&gt;&#10;  &lt;Box style={{ position: 'absolute', top: 0, left: 0, width: 1280, height: 720, background: '#FFFFFF' }} /&gt;&#10;  &lt;Box style={{ position: 'absolute', top: 0, left: 0, width: 1280, height: 120, padding: '20px 60px', display: 'flex', flexDirection: 'column', justifyContent: 'center' }}&gt;&#10;    &lt;Text style={{ fontSize: 13, fontWeight: 'bold', color: '#0EA5E9', letterSpacing: 2 }}&gt;WHY IT MATTERS · 运营安全的分量&lt;/Text&gt;&#10;    &lt;Text style={{ fontSize: 34, fontWeight: 'bold', color: '#1E293B' }}&gt;上海地铁，已是一座城市的民生基础设施&lt;/Text&gt;&#10;  &lt;/Box&gt;&#10;  &lt;Box style={{ position: 'absolute', top: 150, left: 60, width: 1160, height: 320, display: 'flex', flexDirection: 'row', gap: 30 }}&gt;&#10;    &lt;Box style={{ flex: 1, background: '#F8FAFC', border: '1px solid #E2E8F0', borderRadius: 16, padding: '28px 32px', display: 'flex', flexDirection: 'column', justifyContent: 'center' }}&gt;&#10;      &lt;Text style={{ fontSize: 100, fontWeight: 'bold', color: '#2563EB', lineHeight: 1 }}&gt;78%&lt;/Text&gt;&#10;      &lt;Text style={{ fontSize: 20, color: '#475569', marginTop: 14 }}&gt;全市公共交通客运量分担率（接近八成）&lt;/Text&gt;&#10;    &lt;/Box&gt;&#10;    &lt;Box style={{ flex: 1, background: '#F8FAFC', border: '1px solid #E2E8F0', borderRadius: 16, padding: '28px 32px', display: 'flex', flexDirection: 'column', justifyContent: 'center' }}&gt;&#10;      &lt;Text style={{ fontSize: 100, fontWeight: 'bold', color: '#2563EB', lineHeight: 1 }}&gt;1016&lt;Text style={{ fontSize: 44, fontWeight: 'bold', color: '#2563EB' }}&gt;万&lt;/Text&gt;&lt;/Text&gt;&#10;      &lt;Text style={{ fontSize: 20, color: '#475569', marginTop: 14 }}&gt;全年日均客运量（单日最高突破 1300 万）&lt;/Text&gt;&#10;    &lt;/Box&gt;&#10;  &lt;/Box&gt;&#10;  &lt;Text style={{ position: 'absolute', top: 488, left: 60, fontSize: 14, color: '#94A3B8' }}&gt;来源《2025 上海综合交通发展报告》&lt;/Text&gt;&#10;  &lt;Box style={{ position: 'absolute', top: 520, left: 60, width: 1160, height: 110, background: '#EFF4FF', borderLeft: '4px solid #F97316', borderRadius: 8, padding: '16px 22px', display: 'flex', alignItems: 'center' }}&gt;&#10;    &lt;Text style={{ fontSize: 19, color: '#1E40AF', lineHeight: 1.6 }}&gt;&#10;      城市早高峰的出行秩序、商务区的活力、机场火车站的接驳都依赖地铁——&lt;span style={{ fontWeight: 'bold', color: '#C2410C' }}&gt;运营安全是每天千万级的托付，不是口号。&lt;/span&gt;&#10;    &lt;/Text&gt;&#10;  &lt;/Box&gt;&#10;  &lt;Box style={{ position: 'absolute', top: 660, left: 60, width: 1160, height: 60, display: 'flex', justifyContent: 'space-between', alignItems: 'center' }}&gt;&#10;    &lt;Text style={{ fontSize: 14, color: '#64748B' }}&gt;上海地铁通号 × 华为 安全交流&lt;/Text&gt;&#10;    &lt;Text style={{ fontSize: 14, color: '#64748B' }}&gt;03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11049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EA5E9"/>
                </a:solidFill>
                <a:latin typeface="Microsoft YaHei"/>
                <a:ea typeface="Microsoft YaHei"/>
              </a:rPr>
              <a:t>WHY IT MATTERS · </a:t>
            </a:r>
            <a:r>
              <a:rPr lang="zh-CN" sz="975" b="1" spc="150">
                <a:solidFill>
                  <a:srgbClr val="0EA5E9"/>
                </a:solidFill>
                <a:latin typeface="Microsoft YaHei"/>
                <a:ea typeface="Microsoft YaHei"/>
              </a:rPr>
              <a:t>运营安全的分量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71500" y="4572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上海地铁，已是一座城市的民生基础设施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571500" y="1428750"/>
            <a:ext cx="5381625" cy="3048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76300" y="2200275"/>
            <a:ext cx="4772025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solidFill>
                  <a:srgbClr val="2563EB"/>
                </a:solidFill>
                <a:latin typeface="Microsoft YaHei"/>
                <a:ea typeface="Microsoft YaHei"/>
              </a:rPr>
              <a:t>78%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76300" y="3476625"/>
            <a:ext cx="4772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75569"/>
                </a:solidFill>
                <a:latin typeface="Microsoft YaHei"/>
                <a:ea typeface="Microsoft YaHei"/>
              </a:rPr>
              <a:t>全市公共交通客运量分担率（接近八成）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238875" y="1428750"/>
            <a:ext cx="5381625" cy="3048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543675" y="2200275"/>
            <a:ext cx="4772025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solidFill>
                  <a:srgbClr val="2563EB"/>
                </a:solidFill>
                <a:latin typeface="Microsoft YaHei"/>
                <a:ea typeface="Microsoft YaHei"/>
              </a:rPr>
              <a:t>1016</a:t>
            </a:r>
            <a:r>
              <a:rPr lang="zh-CN" sz="7500" b="1">
                <a:solidFill>
                  <a:srgbClr val="2563EB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543675" y="3476625"/>
            <a:ext cx="4772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75569"/>
                </a:solidFill>
                <a:latin typeface="Microsoft YaHei"/>
                <a:ea typeface="Microsoft YaHei"/>
              </a:rPr>
              <a:t>全年日均客运量（单日最高突破</a:t>
            </a:r>
            <a:r>
              <a:rPr lang="en-US" sz="1500">
                <a:solidFill>
                  <a:srgbClr val="475569"/>
                </a:solidFill>
                <a:latin typeface="Microsoft YaHei"/>
                <a:ea typeface="Microsoft YaHei"/>
              </a:rPr>
              <a:t> 1300 </a:t>
            </a:r>
            <a:r>
              <a:rPr lang="zh-CN" sz="1500">
                <a:solidFill>
                  <a:srgbClr val="475569"/>
                </a:solidFill>
                <a:latin typeface="Microsoft YaHei"/>
                <a:ea typeface="Microsoft YaHei"/>
              </a:rPr>
              <a:t>万）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71500" y="4648200"/>
            <a:ext cx="2219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来源《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2025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上海综合交通发展报告》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09600" y="4953000"/>
            <a:ext cx="11010900" cy="1047750"/>
          </a:xfrm>
          <a:prstGeom prst="roundRect">
            <a:avLst>
              <a:gd name="adj" fmla="val 7273"/>
            </a:avLst>
          </a:prstGeom>
          <a:solidFill>
            <a:srgbClr val="EFF4FF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609600" y="4953000"/>
            <a:ext cx="11010900" cy="1047750"/>
          </a:xfrm>
          <a:custGeom>
            <a:pathLst>
              <a:path w="1156" h="11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06"/>
                </a:lnTo>
                <a:cubicBezTo>
                  <a:pt x="4" y="108"/>
                  <a:pt x="5" y="110"/>
                  <a:pt x="7" y="110"/>
                </a:cubicBezTo>
                <a:cubicBezTo>
                  <a:pt x="3" y="110"/>
                  <a:pt x="0" y="106"/>
                  <a:pt x="0" y="10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19150" y="5305425"/>
            <a:ext cx="94488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1E40AF"/>
                </a:solidFill>
                <a:latin typeface="Microsoft YaHei"/>
                <a:ea typeface="Microsoft YaHei"/>
              </a:rPr>
              <a:t>城市早高峰的出行秩序、商务区的活力、机场火车站的接驳都依赖地铁——</a:t>
            </a:r>
            <a:r>
              <a:rPr lang="zh-CN" sz="1425" b="1">
                <a:solidFill>
                  <a:srgbClr val="C2410C"/>
                </a:solidFill>
                <a:latin typeface="Microsoft YaHei"/>
                <a:ea typeface="Microsoft YaHei"/>
              </a:rPr>
              <a:t>运营安全是每天千万级的托付，不是口号。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819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上海地铁通号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×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华为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安全交流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02" name="" descr="&lt;Slide&gt;&#10;  &lt;Box style={{ position: 'absolute', top: 0, left: 0, width: 1280, height: 720, background: '#FFFFFF' }} /&gt;&#10;  &lt;Box style={{ position: 'absolute', top: 0, left: 0, width: 1280, height: 120, padding: '20px 60px', display: 'flex', flexDirection: 'column', justifyContent: 'center' }}&gt;&#10;    &lt;Text style={{ fontSize: 13, fontWeight: 'bold', color: '#0EA5E9', letterSpacing: 2 }}&gt;REAL CASE · 真实发生过&lt;/Text&gt;&#10;    &lt;Text style={{ fontSize: 34, fontWeight: 'bold', color: '#1E293B' }}&gt;真实发生过的：车地无线被干扰&lt;/Text&gt;&#10;  &lt;/Box&gt;&#10;  &lt;Box style={{ position: 'absolute', top: 145, left: 60, width: 1160, height: 495, display: 'flex', flexDirection: 'row', gap: 40 }}&gt;&#10;    &lt;Image src=&quot;C:/Users/yuanzhiqian/WorkBuddy/Claw/面向华为安全交流v8/assets/case_tunnel.png&quot; style={{ width: 600, height: 495, objectFit: 'cover', borderRadius: 12 }} /&gt;&#10;    &lt;Box style={{ flex: 1, display: 'flex', flexDirection: 'column', gap: 18, justifyContent: 'center' }}&gt;&#10;      &lt;Text style={{ fontSize: 19, color: '#334155', lineHeight: 1.7 }}&gt;前几年，上海地铁多条线路先后发生车地无线通信被干扰，列车与地面的实时数据传输中断，迫使列车降级运行。&lt;/Text&gt;&#10;      &lt;Box style={{ background: '#FFF7F2', border: '1px solid #FED7AA', borderRadius: 12, padding: '18px 22px', display: 'flex', flexDirection: 'column', gap: 8 }}&gt;&#10;        &lt;Text style={{ fontSize: 20, fontWeight: 'bold', color: '#C2410C' }}&gt;以 11 号线某次为例&lt;/Text&gt;&#10;        &lt;Text style={{ fontSize: 17, color: '#7C2D12', lineHeight: 1.6 }}&gt;· 3 个车站、29 个区段运营受扰，45 列车模式丢失&lt;/Text&gt;&#10;        &lt;Text style={{ fontSize: 17, color: '#7C2D12', lineHeight: 1.6 }}&gt;· 运能由 6 分钟间隔拉大到 13 分钟，影响近 7 小时&lt;/Text&gt;&#10;        &lt;Text style={{ fontSize: 17, color: '#7C2D12', lineHeight: 1.6 }}&gt;· 影响市民出行 &lt;span style={{ fontWeight: 'bold' }}&gt;12.7 万人次&lt;/span&gt;&lt;/Text&gt;&#10;      &lt;/Box&gt;&#10;      &lt;Text style={{ fontSize: 18, color: '#475569', lineHeight: 1.7 }}&gt;运营安全直接关联城市运行，这一环不能出错——也决定了我们对合作伙伴的标准只能更高。&lt;/Text&gt;&#10;    &lt;/Box&gt;&#10;  &lt;/Box&gt;&#10;  &lt;Box style={{ position: 'absolute', top: 660, left: 60, width: 1160, height: 60, display: 'flex', justifyContent: 'space-between', alignItems: 'center' }}&gt;&#10;    &lt;Text style={{ fontSize: 14, color: '#64748B' }}&gt;上海地铁通号 × 华为 安全交流&lt;/Text&gt;&#10;    &lt;Text style={{ fontSize: 14, color: '#64748B' }}&gt;04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11049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EA5E9"/>
                </a:solidFill>
                <a:latin typeface="Microsoft YaHei"/>
                <a:ea typeface="Microsoft YaHei"/>
              </a:rPr>
              <a:t>REAL CASE · </a:t>
            </a:r>
            <a:r>
              <a:rPr lang="zh-CN" sz="975" b="1" spc="150">
                <a:solidFill>
                  <a:srgbClr val="0EA5E9"/>
                </a:solidFill>
                <a:latin typeface="Microsoft YaHei"/>
                <a:ea typeface="Microsoft YaHei"/>
              </a:rPr>
              <a:t>真实发生过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71500" y="4572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真实发生过的：车地无线被干扰</a:t>
            </a:r>
            <a:endParaRPr/>
          </a:p>
        </p:txBody>
      </p:sp>
      <p:pic>
        <p:nvPicPr>
          <p:cNvPr id="106" name=""/>
          <p:cNvPicPr>
            <a:picLocks noChangeAspect="1"/>
          </p:cNvPicPr>
          <p:nvPr/>
        </p:nvPicPr>
        <p:blipFill>
          <a:blip r:embed="rId1"/>
          <a:srcRect l="9595" t="0" r="9595" b="0"/>
          <a:stretch>
            <a:fillRect/>
          </a:stretch>
        </p:blipFill>
        <p:spPr>
          <a:xfrm rot="0" flipH="0" flipV="0">
            <a:off x="571500" y="1381125"/>
            <a:ext cx="5715000" cy="4714875"/>
          </a:xfrm>
          <a:prstGeom prst="roundRect">
            <a:avLst>
              <a:gd name="adj" fmla="val 2424"/>
            </a:avLst>
          </a:prstGeom>
          <a:ln/>
        </p:spPr>
      </p:pic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667500" y="1971675"/>
            <a:ext cx="49530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334155"/>
                </a:solidFill>
                <a:latin typeface="Microsoft YaHei"/>
                <a:ea typeface="Microsoft YaHei"/>
              </a:rPr>
              <a:t>前几年，上海地铁多条线路先后发生车地无线通信被干扰，列车与地面的实时数据传输中断，迫使列车降级运行。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667500" y="2886075"/>
            <a:ext cx="4953000" cy="1743075"/>
          </a:xfrm>
          <a:prstGeom prst="roundRect">
            <a:avLst>
              <a:gd name="adj" fmla="val 6557"/>
            </a:avLst>
          </a:prstGeom>
          <a:solidFill>
            <a:srgbClr val="FFF7F2"/>
          </a:solidFill>
          <a:ln w="12700">
            <a:solidFill>
              <a:srgbClr val="FED7AA"/>
            </a:solidFill>
            <a:prstDash val="solid"/>
          </a:ln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877050" y="3057525"/>
            <a:ext cx="4533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2410C"/>
                </a:solidFill>
                <a:latin typeface="Microsoft YaHei"/>
                <a:ea typeface="Microsoft YaHei"/>
              </a:rPr>
              <a:t>以</a:t>
            </a:r>
            <a:r>
              <a:rPr lang="en-US" sz="1500" b="1">
                <a:solidFill>
                  <a:srgbClr val="C2410C"/>
                </a:solidFill>
                <a:latin typeface="Microsoft YaHei"/>
                <a:ea typeface="Microsoft YaHei"/>
              </a:rPr>
              <a:t> 11 </a:t>
            </a:r>
            <a:r>
              <a:rPr lang="zh-CN" sz="1500" b="1">
                <a:solidFill>
                  <a:srgbClr val="C2410C"/>
                </a:solidFill>
                <a:latin typeface="Microsoft YaHei"/>
                <a:ea typeface="Microsoft YaHei"/>
              </a:rPr>
              <a:t>号线某次为例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877050" y="3362325"/>
            <a:ext cx="45339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7C2D12"/>
                </a:solidFill>
                <a:latin typeface="Microsoft YaHei"/>
                <a:ea typeface="Microsoft YaHei"/>
              </a:rPr>
              <a:t>· 3 </a:t>
            </a:r>
            <a:r>
              <a:rPr lang="zh-CN" sz="1275">
                <a:solidFill>
                  <a:srgbClr val="7C2D12"/>
                </a:solidFill>
                <a:latin typeface="Microsoft YaHei"/>
                <a:ea typeface="Microsoft YaHei"/>
              </a:rPr>
              <a:t>个车站、</a:t>
            </a:r>
            <a:r>
              <a:rPr lang="en-US" sz="1275">
                <a:solidFill>
                  <a:srgbClr val="7C2D12"/>
                </a:solidFill>
                <a:latin typeface="Microsoft YaHei"/>
                <a:ea typeface="Microsoft YaHei"/>
              </a:rPr>
              <a:t>29 </a:t>
            </a:r>
            <a:r>
              <a:rPr lang="zh-CN" sz="1275">
                <a:solidFill>
                  <a:srgbClr val="7C2D12"/>
                </a:solidFill>
                <a:latin typeface="Microsoft YaHei"/>
                <a:ea typeface="Microsoft YaHei"/>
              </a:rPr>
              <a:t>个区段运营受扰，</a:t>
            </a:r>
            <a:r>
              <a:rPr lang="en-US" sz="1275">
                <a:solidFill>
                  <a:srgbClr val="7C2D12"/>
                </a:solidFill>
                <a:latin typeface="Microsoft YaHei"/>
                <a:ea typeface="Microsoft YaHei"/>
              </a:rPr>
              <a:t>45 </a:t>
            </a:r>
            <a:r>
              <a:rPr lang="zh-CN" sz="1275">
                <a:solidFill>
                  <a:srgbClr val="7C2D12"/>
                </a:solidFill>
                <a:latin typeface="Microsoft YaHei"/>
                <a:ea typeface="Microsoft YaHei"/>
              </a:rPr>
              <a:t>列车模式丢失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877050" y="3752850"/>
            <a:ext cx="45339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7C2D12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7C2D12"/>
                </a:solidFill>
                <a:latin typeface="Microsoft YaHei"/>
                <a:ea typeface="Microsoft YaHei"/>
              </a:rPr>
              <a:t>运能由</a:t>
            </a:r>
            <a:r>
              <a:rPr lang="en-US" sz="1275">
                <a:solidFill>
                  <a:srgbClr val="7C2D12"/>
                </a:solidFill>
                <a:latin typeface="Microsoft YaHei"/>
                <a:ea typeface="Microsoft YaHei"/>
              </a:rPr>
              <a:t> 6 </a:t>
            </a:r>
            <a:r>
              <a:rPr lang="zh-CN" sz="1275">
                <a:solidFill>
                  <a:srgbClr val="7C2D12"/>
                </a:solidFill>
                <a:latin typeface="Microsoft YaHei"/>
                <a:ea typeface="Microsoft YaHei"/>
              </a:rPr>
              <a:t>分钟间隔拉大到</a:t>
            </a:r>
            <a:r>
              <a:rPr lang="en-US" sz="1275">
                <a:solidFill>
                  <a:srgbClr val="7C2D12"/>
                </a:solidFill>
                <a:latin typeface="Microsoft YaHei"/>
                <a:ea typeface="Microsoft YaHei"/>
              </a:rPr>
              <a:t> 13 </a:t>
            </a:r>
            <a:r>
              <a:rPr lang="zh-CN" sz="1275">
                <a:solidFill>
                  <a:srgbClr val="7C2D12"/>
                </a:solidFill>
                <a:latin typeface="Microsoft YaHei"/>
                <a:ea typeface="Microsoft YaHei"/>
              </a:rPr>
              <a:t>分钟，影响近</a:t>
            </a:r>
            <a:r>
              <a:rPr lang="en-US" sz="1275">
                <a:solidFill>
                  <a:srgbClr val="7C2D12"/>
                </a:solidFill>
                <a:latin typeface="Microsoft YaHei"/>
                <a:ea typeface="Microsoft YaHei"/>
              </a:rPr>
              <a:t> 7 </a:t>
            </a:r>
            <a:r>
              <a:rPr lang="zh-CN" sz="1275">
                <a:solidFill>
                  <a:srgbClr val="7C2D12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877050" y="4143375"/>
            <a:ext cx="45339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7C2D12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7C2D12"/>
                </a:solidFill>
                <a:latin typeface="Microsoft YaHei"/>
                <a:ea typeface="Microsoft YaHei"/>
              </a:rPr>
              <a:t>影响市民出行</a:t>
            </a:r>
            <a:r>
              <a:rPr lang="en-US" sz="1275">
                <a:solidFill>
                  <a:srgbClr val="7C2D12"/>
                </a:solidFill>
                <a:latin typeface="Microsoft YaHei"/>
                <a:ea typeface="Microsoft YaHei"/>
              </a:rPr>
              <a:t> </a:t>
            </a:r>
            <a:r>
              <a:rPr lang="en-US" sz="1275" b="1">
                <a:solidFill>
                  <a:srgbClr val="7C2D12"/>
                </a:solidFill>
                <a:latin typeface="Microsoft YaHei"/>
                <a:ea typeface="Microsoft YaHei"/>
              </a:rPr>
              <a:t>12.7 </a:t>
            </a:r>
            <a:r>
              <a:rPr lang="zh-CN" sz="1275" b="1">
                <a:solidFill>
                  <a:srgbClr val="7C2D12"/>
                </a:solidFill>
                <a:latin typeface="Microsoft YaHei"/>
                <a:ea typeface="Microsoft YaHei"/>
              </a:rPr>
              <a:t>万人次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667500" y="4800600"/>
            <a:ext cx="4953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运营安全直接关联城市运行，这一环不能出错——也决定了我们对合作伙伴的标准只能更高。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819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上海地铁通号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×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华为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安全交流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16" name="" descr="&lt;Slide&gt;&#10;  &lt;Box style={{ position: 'absolute', top: 0, left: 0, width: 1280, height: 720, background: '#FFFFFF' }} /&gt;&#10;  &lt;Box style={{ position: 'absolute', top: 0, left: 0, width: 1280, height: 120, padding: '20px 60px', display: 'flex', flexDirection: 'column', justifyContent: 'center' }}&gt;&#10;    &lt;Text style={{ fontSize: 13, fontWeight: 'bold', color: '#0EA5E9', letterSpacing: 2 }}&gt;IMPACT · 故障对城市运营的影响&lt;/Text&gt;&#10;    &lt;Text style={{ fontSize: 34, fontWeight: 'bold', color: '#1E293B' }}&gt;一次干扰，牵动整座城市的运行&lt;/Text&gt;&#10;  &lt;/Box&gt;&#10;  &lt;Box style={{ position: 'absolute', top: 138, left: 60, width: 1160, height: 504, display: 'flex', flexDirection: 'column', gap: 14 }}&gt;&#10;    &lt;Box style={{ display: 'flex', flexDirection: 'row', gap: 14, flex: 1 }}&gt;&#10;      &lt;Box style={{ flex: 1, background: '#F8FAFC', border: '1px solid #E2E8F0', borderTop: '4px solid #2563EB', borderRadius: 12, padding: '16px 20px', display: 'flex', flexDirection: 'column' }}&gt;&#10;        &lt;Text style={{ fontSize: 22, fontWeight: 'bold', color: '#1E293B', marginBottom: 8 }}&gt;① 交通运行&lt;/Text&gt;&#10;        &lt;Text style={{ fontSize: 15, color: '#475569', lineHeight: 1.55 }}&gt;· 列车迫停 / 降级限速 20km/h 慢行&lt;/Text&gt;&#10;        &lt;Text style={{ fontSize: 15, color: '#475569', lineHeight: 1.55 }}&gt;· 模式丢失，运能由 6→13 分钟被压缩&lt;/Text&gt;&#10;        &lt;Text style={{ fontSize: 15, color: '#475569', lineHeight: 1.55 }}&gt;· 晚点 13~22 列次、清客 1~15 列次&lt;/Text&gt;&#10;        &lt;Text style={{ fontSize: 15, color: '#475569', lineHeight: 1.55 }}&gt;· 路网协同秩序被打乱&lt;/Text&gt;&#10;      &lt;/Box&gt;&#10;      &lt;Box style={{ flex: 1, background: '#F8FAFC', border: '1px solid #E2E8F0', borderTop: '4px solid #0EA5E9', borderRadius: 12, padding: '16px 20px', display: 'flex', flexDirection: 'column' }}&gt;&#10;        &lt;Text style={{ fontSize: 22, fontWeight: 'bold', color: '#1E293B', marginBottom: 8 }}&gt;② 通勤出行&lt;/Text&gt;&#10;        &lt;Text style={{ fontSize: 15, color: '#475569', lineHeight: 1.55 }}&gt;· 单次影响市民出行 &lt;span style={{ fontWeight: 'bold', color: '#0EA5E9' }}&gt;12.7 万人次&lt;/span&gt;&lt;/Text&gt;&#10;        &lt;Text style={{ fontSize: 15, color: '#475569', lineHeight: 1.55 }}&gt;· 5 分钟晚点累计数十列次&lt;/Text&gt;&#10;        &lt;Text style={{ fontSize: 15, color: '#475569', lineHeight: 1.55 }}&gt;· 单线持续 1.5~7 小时&lt;/Text&gt;&#10;        &lt;Text style={{ fontSize: 15, color: '#475569', lineHeight: 1.55 }}&gt;· 早晚高峰出行秩序被直接冲击&lt;/Text&gt;&#10;      &lt;/Box&gt;&#10;    &lt;/Box&gt;&#10;    &lt;Box style={{ display: 'flex', flexDirection: 'row', gap: 14, flex: 1 }}&gt;&#10;      &lt;Box style={{ flex: 1, background: '#F8FAFC', border: '1px solid #E2E8F0', borderTop: '4px solid #2563EB', borderRadius: 12, padding: '16px 20px', display: 'flex', flexDirection: 'column' }}&gt;&#10;        &lt;Text style={{ fontSize: 22, fontWeight: 'bold', color: '#1E293B', marginBottom: 8 }}&gt;③ 应急响应&lt;/Text&gt;&#10;        &lt;Text style={{ fontSize: 15, color: '#475569', lineHeight: 1.55 }}&gt;· 徐家汇、漕河泾启动三级客流应对&lt;/Text&gt;&#10;        &lt;Text style={{ fontSize: 15, color: '#475569', lineHeight: 1.55 }}&gt;· 大面积客流积压，车站临时管控&lt;/Text&gt;&#10;        &lt;Text style={{ fontSize: 15, color: '#475569', lineHeight: 1.55 }}&gt;· 地面公交接驳压力骤增&lt;/Text&gt;&#10;        &lt;Text style={{ fontSize: 15, color: '#475569', lineHeight: 1.55 }}&gt;· 一线值守与调度资源被大量占用&lt;/Text&gt;&#10;      &lt;/Box&gt;&#10;      &lt;Box style={{ flex: 1, background: '#FFF7F2', border: '1px solid #FED7AA', borderTop: '4px solid #F97316', borderRadius: 12, padding: '16px 20px', display: 'flex', flexDirection: 'column' }}&gt;&#10;        &lt;Text style={{ fontSize: 22, fontWeight: 'bold', color: '#1E293B', marginBottom: 8 }}&gt;④ 次生影响&lt;/Text&gt;&#10;        &lt;Text style={{ fontSize: 15, color: '#7C2D12', lineHeight: 1.55 }}&gt;· 造成较大社会影响&lt;/Text&gt;&#10;        &lt;Text style={{ fontSize: 15, color: '#7C2D12', lineHeight: 1.55 }}&gt;· 舆情与公共秩序压力上升&lt;/Text&gt;&#10;        &lt;Text style={{ fontSize: 15, color: '#7C2D12', lineHeight: 1.55 }}&gt;· 对城市运行信心的冲击&lt;/Text&gt;&#10;        &lt;Text style={{ fontSize: 15, color: '#7C2D12', lineHeight: 1.55 }}&gt;· 数据来自 9/11/16/8 号线及 LTE 改造真实事件&lt;/Text&gt;&#10;      &lt;/Box&gt;&#10;    &lt;/Box&gt;&#10;  &lt;/Box&gt;&#10;  &lt;Box style={{ position: 'absolute', top: 660, left: 60, width: 1160, height: 60, display: 'flex', justifyContent: 'space-between', alignItems: 'center' }}&gt;&#10;    &lt;Text style={{ fontSize: 14, color: '#64748B' }}&gt;上海地铁通号 × 华为 安全交流&lt;/Text&gt;&#10;    &lt;Text style={{ fontSize: 14, color: '#64748B' }}&gt;05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11049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EA5E9"/>
                </a:solidFill>
                <a:latin typeface="Microsoft YaHei"/>
                <a:ea typeface="Microsoft YaHei"/>
              </a:rPr>
              <a:t>IMPACT · </a:t>
            </a:r>
            <a:r>
              <a:rPr lang="zh-CN" sz="975" b="1" spc="150">
                <a:solidFill>
                  <a:srgbClr val="0EA5E9"/>
                </a:solidFill>
                <a:latin typeface="Microsoft YaHei"/>
                <a:ea typeface="Microsoft YaHei"/>
              </a:rPr>
              <a:t>故障对城市运营的影响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71500" y="4572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一次干扰，牵动整座城市的运行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571500" y="1352550"/>
            <a:ext cx="5457825" cy="2333625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571500" y="1352550"/>
            <a:ext cx="5457825" cy="2333625"/>
          </a:xfrm>
          <a:custGeom>
            <a:pathLst>
              <a:path w="573" h="245">
                <a:moveTo>
                  <a:pt x="562" y="0"/>
                </a:moveTo>
                <a:cubicBezTo>
                  <a:pt x="567" y="0"/>
                  <a:pt x="572" y="4"/>
                  <a:pt x="573" y="10"/>
                </a:cubicBezTo>
                <a:cubicBezTo>
                  <a:pt x="572" y="6"/>
                  <a:pt x="569" y="4"/>
                  <a:pt x="565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561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62000" y="1504950"/>
            <a:ext cx="5076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293B"/>
                </a:solidFill>
                <a:latin typeface="Microsoft YaHei"/>
                <a:ea typeface="Microsoft YaHei"/>
              </a:rPr>
              <a:t>① </a:t>
            </a: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交通运行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62000" y="1838325"/>
            <a:ext cx="50768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列车迫停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降级限速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20km/h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慢行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62000" y="2105025"/>
            <a:ext cx="50768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模式丢失，运能由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6→13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分钟被压缩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62000" y="2371725"/>
            <a:ext cx="50768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晚点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13~22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列次、清客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1~15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列次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62000" y="2638425"/>
            <a:ext cx="50768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路网协同秩序被打乱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162675" y="1352550"/>
            <a:ext cx="5457825" cy="2333625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6162675" y="1352550"/>
            <a:ext cx="5457825" cy="2333625"/>
          </a:xfrm>
          <a:custGeom>
            <a:pathLst>
              <a:path w="573" h="245">
                <a:moveTo>
                  <a:pt x="562" y="0"/>
                </a:moveTo>
                <a:cubicBezTo>
                  <a:pt x="567" y="0"/>
                  <a:pt x="572" y="4"/>
                  <a:pt x="573" y="10"/>
                </a:cubicBezTo>
                <a:cubicBezTo>
                  <a:pt x="572" y="6"/>
                  <a:pt x="569" y="4"/>
                  <a:pt x="565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561" y="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353175" y="1504950"/>
            <a:ext cx="5076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293B"/>
                </a:solidFill>
                <a:latin typeface="Microsoft YaHei"/>
                <a:ea typeface="Microsoft YaHei"/>
              </a:rPr>
              <a:t>② </a:t>
            </a: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通勤出行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353175" y="1838325"/>
            <a:ext cx="50768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单次影响市民出行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en-US" sz="1125" b="1">
                <a:solidFill>
                  <a:srgbClr val="0EA5E9"/>
                </a:solidFill>
                <a:latin typeface="Microsoft YaHei"/>
                <a:ea typeface="Microsoft YaHei"/>
              </a:rPr>
              <a:t>12.7 </a:t>
            </a:r>
            <a:r>
              <a:rPr lang="zh-CN" sz="1125" b="1">
                <a:solidFill>
                  <a:srgbClr val="0EA5E9"/>
                </a:solidFill>
                <a:latin typeface="Microsoft YaHei"/>
                <a:ea typeface="Microsoft YaHei"/>
              </a:rPr>
              <a:t>万人次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353175" y="2105025"/>
            <a:ext cx="50768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· 5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分钟晚点累计数十列次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353175" y="2371725"/>
            <a:ext cx="50768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单线持续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1.5~7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353175" y="2638425"/>
            <a:ext cx="50768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早晚高峰出行秩序被直接冲击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571500" y="3819525"/>
            <a:ext cx="5457825" cy="2333625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571500" y="3819525"/>
            <a:ext cx="5457825" cy="2333625"/>
          </a:xfrm>
          <a:custGeom>
            <a:pathLst>
              <a:path w="573" h="245">
                <a:moveTo>
                  <a:pt x="562" y="0"/>
                </a:moveTo>
                <a:cubicBezTo>
                  <a:pt x="567" y="0"/>
                  <a:pt x="572" y="4"/>
                  <a:pt x="573" y="10"/>
                </a:cubicBezTo>
                <a:cubicBezTo>
                  <a:pt x="572" y="6"/>
                  <a:pt x="569" y="4"/>
                  <a:pt x="565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561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62000" y="3971925"/>
            <a:ext cx="5076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293B"/>
                </a:solidFill>
                <a:latin typeface="Microsoft YaHei"/>
                <a:ea typeface="Microsoft YaHei"/>
              </a:rPr>
              <a:t>③ </a:t>
            </a: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应急响应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62000" y="4305300"/>
            <a:ext cx="50768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徐家汇、漕河泾启动三级客流应对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62000" y="4572000"/>
            <a:ext cx="50768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大面积客流积压，车站临时管控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762000" y="4838700"/>
            <a:ext cx="50768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地面公交接驳压力骤增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62000" y="5105400"/>
            <a:ext cx="50768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一线值守与调度资源被大量占用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6162675" y="3819525"/>
            <a:ext cx="5457825" cy="2333625"/>
          </a:xfrm>
          <a:prstGeom prst="roundRect">
            <a:avLst>
              <a:gd name="adj" fmla="val 4898"/>
            </a:avLst>
          </a:prstGeom>
          <a:solidFill>
            <a:srgbClr val="FFF7F2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6162675" y="3819525"/>
            <a:ext cx="5457825" cy="2333625"/>
          </a:xfrm>
          <a:custGeom>
            <a:pathLst>
              <a:path w="573" h="245">
                <a:moveTo>
                  <a:pt x="562" y="0"/>
                </a:moveTo>
                <a:cubicBezTo>
                  <a:pt x="567" y="0"/>
                  <a:pt x="572" y="4"/>
                  <a:pt x="573" y="10"/>
                </a:cubicBezTo>
                <a:cubicBezTo>
                  <a:pt x="572" y="6"/>
                  <a:pt x="569" y="4"/>
                  <a:pt x="565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561" y="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353175" y="3971925"/>
            <a:ext cx="5076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293B"/>
                </a:solidFill>
                <a:latin typeface="Microsoft YaHei"/>
                <a:ea typeface="Microsoft YaHei"/>
              </a:rPr>
              <a:t>④ </a:t>
            </a: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次生影响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353175" y="4305300"/>
            <a:ext cx="50768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7C2D12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7C2D12"/>
                </a:solidFill>
                <a:latin typeface="Microsoft YaHei"/>
                <a:ea typeface="Microsoft YaHei"/>
              </a:rPr>
              <a:t>造成较大社会影响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353175" y="4572000"/>
            <a:ext cx="50768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7C2D12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7C2D12"/>
                </a:solidFill>
                <a:latin typeface="Microsoft YaHei"/>
                <a:ea typeface="Microsoft YaHei"/>
              </a:rPr>
              <a:t>舆情与公共秩序压力上升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353175" y="4838700"/>
            <a:ext cx="50768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7C2D12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7C2D12"/>
                </a:solidFill>
                <a:latin typeface="Microsoft YaHei"/>
                <a:ea typeface="Microsoft YaHei"/>
              </a:rPr>
              <a:t>对城市运行信心的冲击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353175" y="5105400"/>
            <a:ext cx="50768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7C2D12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7C2D12"/>
                </a:solidFill>
                <a:latin typeface="Microsoft YaHei"/>
                <a:ea typeface="Microsoft YaHei"/>
              </a:rPr>
              <a:t>数据来自</a:t>
            </a:r>
            <a:r>
              <a:rPr lang="en-US" sz="1125">
                <a:solidFill>
                  <a:srgbClr val="7C2D12"/>
                </a:solidFill>
                <a:latin typeface="Microsoft YaHei"/>
                <a:ea typeface="Microsoft YaHei"/>
              </a:rPr>
              <a:t> 9/11/16/8 </a:t>
            </a:r>
            <a:r>
              <a:rPr lang="zh-CN" sz="1125">
                <a:solidFill>
                  <a:srgbClr val="7C2D12"/>
                </a:solidFill>
                <a:latin typeface="Microsoft YaHei"/>
                <a:ea typeface="Microsoft YaHei"/>
              </a:rPr>
              <a:t>号线及</a:t>
            </a:r>
            <a:r>
              <a:rPr lang="en-US" sz="1125">
                <a:solidFill>
                  <a:srgbClr val="7C2D12"/>
                </a:solidFill>
                <a:latin typeface="Microsoft YaHei"/>
                <a:ea typeface="Microsoft YaHei"/>
              </a:rPr>
              <a:t> LTE </a:t>
            </a:r>
            <a:r>
              <a:rPr lang="zh-CN" sz="1125">
                <a:solidFill>
                  <a:srgbClr val="7C2D12"/>
                </a:solidFill>
                <a:latin typeface="Microsoft YaHei"/>
                <a:ea typeface="Microsoft YaHei"/>
              </a:rPr>
              <a:t>改造真实事件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819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上海地铁通号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×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华为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安全交流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50" name="" descr="&lt;Slide&gt;&#10;  &lt;Box style={{ position: 'absolute', top: 0, left: 0, width: 1280, height: 720, background: '#FFFFFF' }} /&gt;&#10;  &lt;Box style={{ position: 'absolute', top: 0, left: 0, width: 1280, height: 120, padding: '20px 60px', display: 'flex', flexDirection: 'column', justifyContent: 'center' }}&gt;&#10;    &lt;Text style={{ fontSize: 13, fontWeight: 'bold', color: '#0EA5E9', letterSpacing: 2 }}&gt;OUR SAFETY CULTURE · 我们对安全的重视&lt;/Text&gt;&#10;    &lt;Text style={{ fontSize: 34, fontWeight: 'bold', color: '#1E293B' }}&gt;安全贯穿系统全过程，不是建成那天安全就行&lt;/Text&gt;&#10;  &lt;/Box&gt;&#10;  &lt;Box style={{ position: 'absolute', top: 150, left: 60, width: 1160, height: 60 }}&gt;&#10;    &lt;Text style={{ fontSize: 19, color: '#334155', lineHeight: 1.6 }}&gt;安全是底线，也是每个人脑子里每天绷着的那根弦——它从规划就写进去了，一直守到退役。&lt;/Text&gt;&#10;  &lt;/Box&gt;&#10;  &lt;Box style={{ position: 'absolute', top: 225, left: 60, width: 1160, height: 415, display: 'flex', flexDirection: 'row', gap: 16 }}&gt;&#10;    &lt;Box style={{ flex: 1, background: '#F8FAFC', border: '1px solid #E2E8F0', borderRadius: 12, padding: '20px 22px', display: 'flex', flexDirection: 'column', gap: 8 }}&gt;&#10;      &lt;Text style={{ fontSize: 22, fontWeight: 'bold', color: '#2563EB' }}&gt;① 每年安全评估&lt;/Text&gt;&#10;      &lt;Text style={{ fontSize: 16, color: '#475569', lineHeight: 1.6 }}&gt;对通信、信号系统的运行状态、风险隐患、薄弱环节做全面体检，形成评估报告，逐项整改闭环。&lt;/Text&gt;&#10;    &lt;/Box&gt;&#10;    &lt;Box style={{ flex: 1, background: '#F8FAFC', border: '1px solid #E2E8F0', borderRadius: 12, padding: '20px 22px', display: 'flex', flexDirection: 'column', gap: 8 }}&gt;&#10;      &lt;Text style={{ fontSize: 22, fontWeight: 'bold', color: '#0EA5E9' }}&gt;② 每年 6 月安全月&lt;/Text&gt;&#10;      &lt;Text style={{ fontSize: 16, color: '#475569', lineHeight: 1.6 }}&gt;从管理层到一线，强化安全意识、排查隐患、演练应急场景——安全是脑子里的那根弦。&lt;/Text&gt;&#10;    &lt;/Box&gt;&#10;    &lt;Box style={{ flex: 1, background: '#F8FAFC', border: '1px solid #E2E8F0', borderRadius: 12, padding: '20px 22px', display: 'flex', flexDirection: 'column', gap: 8 }}&gt;&#10;      &lt;Text style={{ fontSize: 22, fontWeight: 'bold', color: '#2563EB' }}&gt;③ 运营安全是大概念&lt;/Text&gt;&#10;      &lt;Text style={{ fontSize: 16, color: '#475569', lineHeight: 1.6 }}&gt;涵盖行车、设备、人员、网络、公共安全；通号主责守好通信、信号系统运行安全。&lt;/Text&gt;&#10;    &lt;/Box&gt;&#10;    &lt;Box style={{ flex: 1, background: '#FFF7F2', border: '1px solid #FED7AA', borderRadius: 12, padding: '20px 22px', display: 'flex', flexDirection: 'column', gap: 8 }}&gt;&#10;      &lt;Text style={{ fontSize: 22, fontWeight: 'bold', color: '#C2410C' }}&gt;④ 安全贯穿全过程&lt;/Text&gt;&#10;      &lt;Text style={{ fontSize: 16, color: '#7C2D12', lineHeight: 1.6 }}&gt;从规划、建设、运维到退役，且关注 15 年自主可控——不是建成那天安全就行。&lt;/Text&gt;&#10;    &lt;/Box&gt;&#10;  &lt;/Box&gt;&#10;  &lt;Box style={{ position: 'absolute', top: 660, left: 60, width: 1160, height: 60, display: 'flex', justifyContent: 'space-between', alignItems: 'center' }}&gt;&#10;    &lt;Text style={{ fontSize: 14, color: '#64748B' }}&gt;上海地铁通号 × 华为 安全交流&lt;/Text&gt;&#10;    &lt;Text style={{ fontSize: 14, color: '#64748B' }}&gt;06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11049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EA5E9"/>
                </a:solidFill>
                <a:latin typeface="Microsoft YaHei"/>
                <a:ea typeface="Microsoft YaHei"/>
              </a:rPr>
              <a:t>OUR SAFETY CULTURE · </a:t>
            </a:r>
            <a:r>
              <a:rPr lang="zh-CN" sz="975" b="1" spc="150">
                <a:solidFill>
                  <a:srgbClr val="0EA5E9"/>
                </a:solidFill>
                <a:latin typeface="Microsoft YaHei"/>
                <a:ea typeface="Microsoft YaHei"/>
              </a:rPr>
              <a:t>我们对安全的重视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71500" y="4572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安全贯穿系统全过程，不是建成那天安全就行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71500" y="1428750"/>
            <a:ext cx="110490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334155"/>
                </a:solidFill>
                <a:latin typeface="Microsoft YaHei"/>
                <a:ea typeface="Microsoft YaHei"/>
              </a:rPr>
              <a:t>安全是底线，也是每个人脑子里每天绷着的那根弦——它从规划就写进去了，一直守到退役。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571500" y="2143125"/>
            <a:ext cx="2647950" cy="3952875"/>
          </a:xfrm>
          <a:prstGeom prst="roundRect">
            <a:avLst>
              <a:gd name="adj" fmla="val 43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81050" y="2333625"/>
            <a:ext cx="2228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① </a:t>
            </a: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每年安全评估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81050" y="2667000"/>
            <a:ext cx="222885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对通信、信号系统的运行状态、风险隐患、薄弱环节做全面体检，形成评估报告，逐项整改闭环。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3371850" y="2143125"/>
            <a:ext cx="2647950" cy="3952875"/>
          </a:xfrm>
          <a:prstGeom prst="roundRect">
            <a:avLst>
              <a:gd name="adj" fmla="val 43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3581400" y="2333625"/>
            <a:ext cx="2228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A5E9"/>
                </a:solidFill>
                <a:latin typeface="Microsoft YaHei"/>
                <a:ea typeface="Microsoft YaHei"/>
              </a:rPr>
              <a:t>② </a:t>
            </a:r>
            <a:r>
              <a:rPr lang="zh-CN" sz="1650" b="1">
                <a:solidFill>
                  <a:srgbClr val="0EA5E9"/>
                </a:solidFill>
                <a:latin typeface="Microsoft YaHei"/>
                <a:ea typeface="Microsoft YaHei"/>
              </a:rPr>
              <a:t>每年</a:t>
            </a:r>
            <a:r>
              <a:rPr lang="en-US" sz="1650" b="1">
                <a:solidFill>
                  <a:srgbClr val="0EA5E9"/>
                </a:solidFill>
                <a:latin typeface="Microsoft YaHei"/>
                <a:ea typeface="Microsoft YaHei"/>
              </a:rPr>
              <a:t> 6 </a:t>
            </a:r>
            <a:r>
              <a:rPr lang="zh-CN" sz="1650" b="1">
                <a:solidFill>
                  <a:srgbClr val="0EA5E9"/>
                </a:solidFill>
                <a:latin typeface="Microsoft YaHei"/>
                <a:ea typeface="Microsoft YaHei"/>
              </a:rPr>
              <a:t>月安全月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3581400" y="2667000"/>
            <a:ext cx="22288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从管理层到一线，强化安全意识、排查隐患、演练应急场景——安全是脑子里的那根弦。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172200" y="2143125"/>
            <a:ext cx="2647950" cy="3952875"/>
          </a:xfrm>
          <a:prstGeom prst="roundRect">
            <a:avLst>
              <a:gd name="adj" fmla="val 43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381750" y="2333625"/>
            <a:ext cx="2228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③ </a:t>
            </a: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运营安全是大概念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381750" y="2667000"/>
            <a:ext cx="22288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涵盖行车、设备、人员、网络、公共安全；通号主责守好通信、信号系统运行安全。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8972550" y="2143125"/>
            <a:ext cx="2647950" cy="3952875"/>
          </a:xfrm>
          <a:prstGeom prst="roundRect">
            <a:avLst>
              <a:gd name="adj" fmla="val 4317"/>
            </a:avLst>
          </a:prstGeom>
          <a:solidFill>
            <a:srgbClr val="FFF7F2"/>
          </a:solidFill>
          <a:ln w="12700">
            <a:solidFill>
              <a:srgbClr val="FED7AA"/>
            </a:solidFill>
            <a:prstDash val="solid"/>
          </a:ln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9182100" y="2333625"/>
            <a:ext cx="2228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2410C"/>
                </a:solidFill>
                <a:latin typeface="Microsoft YaHei"/>
                <a:ea typeface="Microsoft YaHei"/>
              </a:rPr>
              <a:t>④ </a:t>
            </a:r>
            <a:r>
              <a:rPr lang="zh-CN" sz="1650" b="1">
                <a:solidFill>
                  <a:srgbClr val="C2410C"/>
                </a:solidFill>
                <a:latin typeface="Microsoft YaHei"/>
                <a:ea typeface="Microsoft YaHei"/>
              </a:rPr>
              <a:t>安全贯穿全过程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9182100" y="2667000"/>
            <a:ext cx="22288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7C2D12"/>
                </a:solidFill>
                <a:latin typeface="Microsoft YaHei"/>
                <a:ea typeface="Microsoft YaHei"/>
              </a:rPr>
              <a:t>从规划、建设、运维到退役，且关注</a:t>
            </a:r>
            <a:r>
              <a:rPr lang="en-US" sz="1200">
                <a:solidFill>
                  <a:srgbClr val="7C2D12"/>
                </a:solidFill>
                <a:latin typeface="Microsoft YaHei"/>
                <a:ea typeface="Microsoft YaHei"/>
              </a:rPr>
              <a:t> 15 </a:t>
            </a:r>
            <a:r>
              <a:rPr lang="zh-CN" sz="1200">
                <a:solidFill>
                  <a:srgbClr val="7C2D12"/>
                </a:solidFill>
                <a:latin typeface="Microsoft YaHei"/>
                <a:ea typeface="Microsoft YaHei"/>
              </a:rPr>
              <a:t>年自主可控——不是建成那天安全就行。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819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上海地铁通号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×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华为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安全交流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69" name="" descr="&lt;Slide&gt;&#10;  &lt;Box style={{ position: 'absolute', top: 0, left: 0, width: 1280, height: 720, background: '#FFFFFF' }} /&gt;&#10;  &lt;Box style={{ position: 'absolute', top: 0, left: 0, width: 1280, height: 120, padding: '20px 60px', display: 'flex', flexDirection: 'column', justifyContent: 'center' }}&gt;&#10;    &lt;Text style={{ fontSize: 13, fontWeight: 'bold', color: '#0EA5E9', letterSpacing: 2 }}&gt;FOUR STAGES · 系统安全&lt;/Text&gt;&#10;    &lt;Text style={{ fontSize: 34, fontWeight: 'bold', color: '#1E293B' }}&gt;系统安全的四环节：一条不能断的链&lt;/Text&gt;&#10;  &lt;/Box&gt;&#10;  &lt;Box style={{ position: 'absolute', top: 150, left: 60, width: 1160, height: 490, display: 'flex', flexDirection: 'row', gap: 30 }}&gt;&#10;    &lt;Box style={{ width: 640, display: 'flex', flexDirection: 'column', justifyContent: 'center' }}&gt;&#10;      &lt;svg width={640} height={240} viewBox='0 0 640 240'&gt;&#10;        &lt;rect x={10} y={85} width={120} height={70} rx={10} fill='#2563EB' /&gt;&#10;        &lt;text x={70} y={126} fill='#FFFFFF' font-size={20} text-anchor='middle' font-weight='bold'&gt;规划设计&lt;/text&gt;&#10;        &lt;path d='M132 120 L152 120' stroke='#94A3B8' stroke-width='3' /&gt;&#10;        &lt;rect x={158} y={85} width={120} height={70} rx={10} fill='#0EA5E9' /&gt;&#10;        &lt;text x={218} y={126} fill='#FFFFFF' font-size={20} text-anchor='middle' font-weight='bold'&gt;建设执行&lt;/text&gt;&#10;        &lt;path d='M280 120 L300 120' stroke='#94A3B8' stroke-width='3' /&gt;&#10;        &lt;rect x={306} y={85} width={120} height={70} rx={10} fill='#2563EB' /&gt;&#10;        &lt;text x={366} y={126} fill='#FFFFFF' font-size={20} text-anchor='middle' font-weight='bold'&gt;运维保障&lt;/text&gt;&#10;        &lt;path d='M428 120 L448 120' stroke='#94A3B8' stroke-width='3' /&gt;&#10;        &lt;rect x={454} y={85} width={120} height={70} rx={10} fill='#F97316' /&gt;&#10;        &lt;text x={514} y={126} fill='#FFFFFF' font-size={18} text-anchor='middle' font-weight='bold'&gt;全生命周期&lt;/text&gt;&#10;        &lt;text x={320} y={210} fill='#64748B' font-size={15} text-anchor='middle'&gt;规划设计把安全写进图纸 → 建设执行落地 → 运维保障长期守住 → 全生命周期兜住 15 年&lt;/text&gt;&#10;      &lt;/svg&gt;&#10;    &lt;/Box&gt;&#10;    &lt;Box style={{ flex: 1, display: 'flex', flexDirection: 'column', gap: 14, justifyContent: 'center' }}&gt;&#10;      &lt;Text style={{ fontSize: 18, color: '#334155', lineHeight: 1.7 }}&gt;系统安全是一条链：任何一环弱，整组都出问题。&lt;/Text&gt;&#10;      &lt;Box style={{ background: '#EFF4FF', borderLeft: '4px solid #2563EB', borderRadius: 8, padding: '14px 18px' }}&gt;&#10;        &lt;Text style={{ fontSize: 17, color: '#1E40AF', lineHeight: 1.6 }}&gt;&#10;          规划设计：把 RAMS、冗余、接口边界落到设计文件&lt;Text style={{ fontWeight: 'bold' }}&gt;（华为共定方案）&lt;/Text&gt;&#10;        &lt;/Text&gt;&#10;      &lt;/Box&gt;&#10;      &lt;Box style={{ background: '#EFF4FF', borderLeft: '4px solid #0EA5E9', borderRadius: 8, padding: '14px 18px' }}&gt;&#10;        &lt;Text style={{ fontSize: 17, color: '#1E40AF', lineHeight: 1.6 }}&gt;建设执行：联合验收，联调从产品级升运营级&lt;/Text&gt;&#10;      &lt;/Box&gt;&#10;      &lt;Box style={{ background: '#EFF4FF', borderLeft: '4px solid #2563EB', borderRadius: 8, padding: '14px 18px' }}&gt;&#10;        &lt;Text style={{ fontSize: 17, color: '#1E40AF', lineHeight: 1.6 }}&gt;运维保障：把经验产品化，能力建在我们自己身上&lt;/Text&gt;&#10;      &lt;/Box&gt;&#10;      &lt;Box style={{ background: '#FFF7F2', borderLeft: '4px solid #F97316', borderRadius: 8, padding: '14px 18px' }}&gt;&#10;        &lt;Text style={{ fontSize: 17, color: '#C2410C', lineHeight: 1.6 }}&gt;全生命周期：备件可替代、版本可维护、技术不断档&lt;/Text&gt;&#10;      &lt;/Box&gt;&#10;      &lt;Text style={{ fontSize: 17, fontWeight: 'bold', color: '#1E293B', lineHeight: 1.6 }}&gt;华为在每一环都关键——安全要一起做深、做长。&lt;/Text&gt;&#10;    &lt;/Box&gt;&#10;  &lt;/Box&gt;&#10;  &lt;Box style={{ position: 'absolute', top: 660, left: 60, width: 1160, height: 60, display: 'flex', justifyContent: 'space-between', alignItems: 'center' }}&gt;&#10;    &lt;Text style={{ fontSize: 14, color: '#64748B' }}&gt;上海地铁通号 × 华为 安全交流&lt;/Text&gt;&#10;    &lt;Text style={{ fontSize: 14, color: '#64748B' }}&gt;07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11049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EA5E9"/>
                </a:solidFill>
                <a:latin typeface="Microsoft YaHei"/>
                <a:ea typeface="Microsoft YaHei"/>
              </a:rPr>
              <a:t>FOUR STAGES · </a:t>
            </a:r>
            <a:r>
              <a:rPr lang="zh-CN" sz="975" b="1" spc="150">
                <a:solidFill>
                  <a:srgbClr val="0EA5E9"/>
                </a:solidFill>
                <a:latin typeface="Microsoft YaHei"/>
                <a:ea typeface="Microsoft YaHei"/>
              </a:rPr>
              <a:t>系统安全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71500" y="4572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系统安全的四环节：一条不能断的链</a:t>
            </a:r>
            <a:endParaRPr/>
          </a:p>
        </p:txBody>
      </p:sp>
      <p:pic>
        <p:nvPicPr>
          <p:cNvPr id="1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2619375"/>
            <a:ext cx="6096000" cy="2286000"/>
          </a:xfrm>
          <a:prstGeom prst="rect">
            <a:avLst/>
          </a:prstGeom>
          <a:ln/>
        </p:spPr>
      </p:pic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953250" y="1781175"/>
            <a:ext cx="466725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系统安全是一条链：任何一环弱，整组都出问题。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991350" y="2266950"/>
            <a:ext cx="4667250" cy="895350"/>
          </a:xfrm>
          <a:prstGeom prst="roundRect">
            <a:avLst>
              <a:gd name="adj" fmla="val 8511"/>
            </a:avLst>
          </a:prstGeom>
          <a:solidFill>
            <a:srgbClr val="EFF4FF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6991350" y="2266950"/>
            <a:ext cx="4667250" cy="895350"/>
          </a:xfrm>
          <a:custGeom>
            <a:pathLst>
              <a:path w="490" h="9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0"/>
                </a:lnTo>
                <a:cubicBezTo>
                  <a:pt x="4" y="92"/>
                  <a:pt x="5" y="94"/>
                  <a:pt x="7" y="94"/>
                </a:cubicBezTo>
                <a:cubicBezTo>
                  <a:pt x="3" y="94"/>
                  <a:pt x="0" y="90"/>
                  <a:pt x="0" y="8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162800" y="2400300"/>
            <a:ext cx="42862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E40AF"/>
                </a:solidFill>
                <a:latin typeface="Microsoft YaHei"/>
                <a:ea typeface="Microsoft YaHei"/>
              </a:rPr>
              <a:t>规划设计：把</a:t>
            </a:r>
            <a:r>
              <a:rPr lang="en-US" sz="1275">
                <a:solidFill>
                  <a:srgbClr val="1E40AF"/>
                </a:solidFill>
                <a:latin typeface="Microsoft YaHei"/>
                <a:ea typeface="Microsoft YaHei"/>
              </a:rPr>
              <a:t> RAMS</a:t>
            </a:r>
            <a:r>
              <a:rPr lang="zh-CN" sz="1275">
                <a:solidFill>
                  <a:srgbClr val="1E40AF"/>
                </a:solidFill>
                <a:latin typeface="Microsoft YaHei"/>
                <a:ea typeface="Microsoft YaHei"/>
              </a:rPr>
              <a:t>、冗余、接口边界落到设计文件</a:t>
            </a:r>
            <a:r>
              <a:rPr lang="zh-CN" sz="1275">
                <a:solidFill>
                  <a:srgbClr val="1E40AF"/>
                </a:solidFill>
                <a:latin typeface="Microsoft YaHei"/>
                <a:ea typeface="Microsoft YaHei"/>
              </a:rPr>
              <a:t>（华为共定方案）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6991350" y="3295650"/>
            <a:ext cx="4667250" cy="581025"/>
          </a:xfrm>
          <a:prstGeom prst="roundRect">
            <a:avLst>
              <a:gd name="adj" fmla="val 13115"/>
            </a:avLst>
          </a:prstGeom>
          <a:solidFill>
            <a:srgbClr val="EFF4FF"/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6991350" y="3295650"/>
            <a:ext cx="4667250" cy="581025"/>
          </a:xfrm>
          <a:custGeom>
            <a:pathLst>
              <a:path w="490" h="6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7"/>
                </a:lnTo>
                <a:cubicBezTo>
                  <a:pt x="4" y="59"/>
                  <a:pt x="5" y="61"/>
                  <a:pt x="7" y="61"/>
                </a:cubicBezTo>
                <a:cubicBezTo>
                  <a:pt x="3" y="61"/>
                  <a:pt x="0" y="57"/>
                  <a:pt x="0" y="5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7162800" y="3429000"/>
            <a:ext cx="42862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E40AF"/>
                </a:solidFill>
                <a:latin typeface="Microsoft YaHei"/>
                <a:ea typeface="Microsoft YaHei"/>
              </a:rPr>
              <a:t>建设执行：联合验收，联调从产品级升运营级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991350" y="4010025"/>
            <a:ext cx="4667250" cy="581025"/>
          </a:xfrm>
          <a:prstGeom prst="roundRect">
            <a:avLst>
              <a:gd name="adj" fmla="val 13115"/>
            </a:avLst>
          </a:prstGeom>
          <a:solidFill>
            <a:srgbClr val="EFF4FF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6991350" y="4010025"/>
            <a:ext cx="4667250" cy="581025"/>
          </a:xfrm>
          <a:custGeom>
            <a:pathLst>
              <a:path w="490" h="6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7"/>
                </a:lnTo>
                <a:cubicBezTo>
                  <a:pt x="4" y="59"/>
                  <a:pt x="5" y="61"/>
                  <a:pt x="7" y="61"/>
                </a:cubicBezTo>
                <a:cubicBezTo>
                  <a:pt x="3" y="61"/>
                  <a:pt x="0" y="57"/>
                  <a:pt x="0" y="5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162800" y="4143375"/>
            <a:ext cx="42862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E40AF"/>
                </a:solidFill>
                <a:latin typeface="Microsoft YaHei"/>
                <a:ea typeface="Microsoft YaHei"/>
              </a:rPr>
              <a:t>运维保障：把经验产品化，能力建在我们自己身上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991350" y="4724400"/>
            <a:ext cx="4667250" cy="581025"/>
          </a:xfrm>
          <a:prstGeom prst="roundRect">
            <a:avLst>
              <a:gd name="adj" fmla="val 13115"/>
            </a:avLst>
          </a:prstGeom>
          <a:solidFill>
            <a:srgbClr val="FFF7F2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6991350" y="4724400"/>
            <a:ext cx="4667250" cy="581025"/>
          </a:xfrm>
          <a:custGeom>
            <a:pathLst>
              <a:path w="490" h="6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7"/>
                </a:lnTo>
                <a:cubicBezTo>
                  <a:pt x="4" y="59"/>
                  <a:pt x="5" y="61"/>
                  <a:pt x="7" y="61"/>
                </a:cubicBezTo>
                <a:cubicBezTo>
                  <a:pt x="3" y="61"/>
                  <a:pt x="0" y="57"/>
                  <a:pt x="0" y="5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7162800" y="4857750"/>
            <a:ext cx="42862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C2410C"/>
                </a:solidFill>
                <a:latin typeface="Microsoft YaHei"/>
                <a:ea typeface="Microsoft YaHei"/>
              </a:rPr>
              <a:t>全生命周期：备件可替代、版本可维护、技术不断档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953250" y="5438775"/>
            <a:ext cx="46672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华为在每一环都关键——安全要一起做深、做长。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819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上海地铁通号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×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华为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安全交流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90" name="" descr="&lt;Slide&gt;&#10;  &lt;Box style={{ position: 'absolute', top: 0, left: 0, width: 1280, height: 720, background: '#FFFFFF' }} /&gt;&#10;  &lt;Box style={{ position: 'absolute', top: 0, left: 0, width: 1280, height: 120, padding: '20px 60px', display: 'flex', flexDirection: 'column', justifyContent: 'center' }}&gt;&#10;    &lt;Text style={{ fontSize: 13, fontWeight: 'bold', color: '#0EA5E9', letterSpacing: 2 }}&gt;STAGE 1 · 规划设计&lt;/Text&gt;&#10;    &lt;Text style={{ fontSize: 34, fontWeight: 'bold', color: '#1E293B' }}&gt;规划设计：把安全写进第一张图纸&lt;/Text&gt;&#10;  &lt;/Box&gt;&#10;  &lt;Box style={{ position: 'absolute', top: 150, left: 60, width: 1160, height: 490, display: 'flex', flexDirection: 'row', gap: 40 }}&gt;&#10;    &lt;Box style={{ flex: 1, background: '#F8FAFC', border: '1px solid #E2E8F0', borderRadius: 12, padding: '24px 26px', display: 'flex', flexDirection: 'column', gap: 14 }}&gt;&#10;      &lt;Text style={{ fontSize: 22, fontWeight: 'bold', color: '#1E293B' }}&gt;地铁场景长出的系统，不是通用货架能直接给的：&lt;/Text&gt;&#10;      &lt;Text style={{ fontSize: 17, color: '#475569', lineHeight: 1.7 }}&gt;· 高速移动下的连续切换&lt;/Text&gt;&#10;      &lt;Text style={{ fontSize: 17, color: '#475569', lineHeight: 1.7 }}&gt;· 隧道环境的 EMC 与抗干扰&lt;/Text&gt;&#10;      &lt;Text style={{ fontSize: 17, color: '#475569', lineHeight: 1.7 }}&gt;· 24×365 不间断冗余&lt;/Text&gt;&#10;      &lt;Text style={{ fontSize: 17, color: '#475569', lineHeight: 1.7 }}&gt;· 与信号系统的深度耦合&lt;/Text&gt;&#10;    &lt;/Box&gt;&#10;    &lt;Box style={{ flex: 1, display: 'flex', flexDirection: 'column', gap: 14 }}&gt;&#10;      &lt;Box style={{ background: '#EFF4FF', border: '1px solid #C7DCFE', borderRadius: 12, padding: '18px 22px' }}&gt;&#10;        &lt;Text style={{ fontSize: 19, fontWeight: 'bold', color: '#1E40AF' }}&gt;路网级规划已落地&lt;/Text&gt;&#10;        &lt;Text style={{ fontSize: 16, color: '#334155', lineHeight: 1.6, marginTop: 6 }}&gt;建路网级核心、做异地灾备，满足系统韧性要求。&lt;/Text&gt;&#10;      &lt;/Box&gt;&#10;      &lt;Box style={{ background: '#EFF4FF', border: '1px solid #C7DCFE', borderRadius: 12, padding: '18px 22px' }}&gt;&#10;        &lt;Text style={{ fontSize: 19, fontWeight: 'bold', color: '#1E40AF' }}&gt;方案须经 RAMS 校核&lt;/Text&gt;&#10;        &lt;Text style={{ fontSize: 16, color: '#334155', lineHeight: 1.6, marginTop: 6 }}&gt;可靠性、可用性、可维修性、安全性逐项过关。&lt;/Text&gt;&#10;      &lt;/Box&gt;&#10;      &lt;Box style={{ background: '#FFF7F2', border: '1px solid #FED7AA', borderRadius: 12, padding: '18px 22px' }}&gt;&#10;        &lt;Text style={{ fontSize: 19, fontWeight: 'bold', color: '#C2410C' }}&gt;华为关键作用 · 共定方案&lt;/Text&gt;&#10;        &lt;Text style={{ fontSize: 16, color: '#7C2D12', lineHeight: 1.6, marginTop: 6 }}&gt;把 RAMS、冗余、接口边界落到设计文件，而非事后整改。&lt;/Text&gt;&#10;      &lt;/Box&gt;&#10;    &lt;/Box&gt;&#10;  &lt;/Box&gt;&#10;  &lt;Box style={{ position: 'absolute', top: 660, left: 60, width: 1160, height: 60, display: 'flex', justifyContent: 'space-between', alignItems: 'center' }}&gt;&#10;    &lt;Text style={{ fontSize: 14, color: '#64748B' }}&gt;上海地铁通号 × 华为 安全交流&lt;/Text&gt;&#10;    &lt;Text style={{ fontSize: 14, color: '#64748B' }}&gt;08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11049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EA5E9"/>
                </a:solidFill>
                <a:latin typeface="Microsoft YaHei"/>
                <a:ea typeface="Microsoft YaHei"/>
              </a:rPr>
              <a:t>STAGE 1 · </a:t>
            </a:r>
            <a:r>
              <a:rPr lang="zh-CN" sz="975" b="1" spc="150">
                <a:solidFill>
                  <a:srgbClr val="0EA5E9"/>
                </a:solidFill>
                <a:latin typeface="Microsoft YaHei"/>
                <a:ea typeface="Microsoft YaHei"/>
              </a:rPr>
              <a:t>规划设计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571500" y="4572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规划设计：把安全写进第一张图纸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571500" y="1428750"/>
            <a:ext cx="5334000" cy="4667250"/>
          </a:xfrm>
          <a:prstGeom prst="roundRect">
            <a:avLst>
              <a:gd name="adj" fmla="val 244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19150" y="1657350"/>
            <a:ext cx="4838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地铁场景长出的系统，不是通用货架能直接给的：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19150" y="2047875"/>
            <a:ext cx="48387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高速移动下的连续切换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19150" y="2514600"/>
            <a:ext cx="48387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隧道环境的</a:t>
            </a: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> EMC 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与抗干扰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19150" y="2981325"/>
            <a:ext cx="48387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>· 24×365 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不间断冗余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19150" y="3448050"/>
            <a:ext cx="48387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与信号系统的深度耦合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286500" y="1428750"/>
            <a:ext cx="5334000" cy="914400"/>
          </a:xfrm>
          <a:prstGeom prst="roundRect">
            <a:avLst>
              <a:gd name="adj" fmla="val 12500"/>
            </a:avLst>
          </a:prstGeom>
          <a:solidFill>
            <a:srgbClr val="EFF4FF"/>
          </a:solidFill>
          <a:ln w="12700">
            <a:solidFill>
              <a:srgbClr val="C7DCFE"/>
            </a:solidFill>
            <a:prstDash val="solid"/>
          </a:ln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496050" y="1600200"/>
            <a:ext cx="4914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0AF"/>
                </a:solidFill>
                <a:latin typeface="Microsoft YaHei"/>
                <a:ea typeface="Microsoft YaHei"/>
              </a:rPr>
              <a:t>路网级规划已落地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496050" y="1876425"/>
            <a:ext cx="49149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建路网级核心、做异地灾备，满足系统韧性要求。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286500" y="2476500"/>
            <a:ext cx="5334000" cy="914400"/>
          </a:xfrm>
          <a:prstGeom prst="roundRect">
            <a:avLst>
              <a:gd name="adj" fmla="val 12500"/>
            </a:avLst>
          </a:prstGeom>
          <a:solidFill>
            <a:srgbClr val="EFF4FF"/>
          </a:solidFill>
          <a:ln w="12700">
            <a:solidFill>
              <a:srgbClr val="C7DCFE"/>
            </a:solidFill>
            <a:prstDash val="solid"/>
          </a:ln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496050" y="2647950"/>
            <a:ext cx="4914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0AF"/>
                </a:solidFill>
                <a:latin typeface="Microsoft YaHei"/>
                <a:ea typeface="Microsoft YaHei"/>
              </a:rPr>
              <a:t>方案须经</a:t>
            </a:r>
            <a:r>
              <a:rPr lang="en-US" sz="1425" b="1">
                <a:solidFill>
                  <a:srgbClr val="1E40AF"/>
                </a:solidFill>
                <a:latin typeface="Microsoft YaHei"/>
                <a:ea typeface="Microsoft YaHei"/>
              </a:rPr>
              <a:t> RAMS </a:t>
            </a:r>
            <a:r>
              <a:rPr lang="zh-CN" sz="1425" b="1">
                <a:solidFill>
                  <a:srgbClr val="1E40AF"/>
                </a:solidFill>
                <a:latin typeface="Microsoft YaHei"/>
                <a:ea typeface="Microsoft YaHei"/>
              </a:rPr>
              <a:t>校核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496050" y="2924175"/>
            <a:ext cx="49149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可靠性、可用性、可维修性、安全性逐项过关。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6286500" y="3524250"/>
            <a:ext cx="5334000" cy="914400"/>
          </a:xfrm>
          <a:prstGeom prst="roundRect">
            <a:avLst>
              <a:gd name="adj" fmla="val 12500"/>
            </a:avLst>
          </a:prstGeom>
          <a:solidFill>
            <a:srgbClr val="FFF7F2"/>
          </a:solidFill>
          <a:ln w="12700">
            <a:solidFill>
              <a:srgbClr val="FED7AA"/>
            </a:solidFill>
            <a:prstDash val="solid"/>
          </a:ln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496050" y="3695700"/>
            <a:ext cx="4914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2410C"/>
                </a:solidFill>
                <a:latin typeface="Microsoft YaHei"/>
                <a:ea typeface="Microsoft YaHei"/>
              </a:rPr>
              <a:t>华为关键作用</a:t>
            </a:r>
            <a:r>
              <a:rPr lang="en-US" sz="1425" b="1">
                <a:solidFill>
                  <a:srgbClr val="C2410C"/>
                </a:solidFill>
                <a:latin typeface="Microsoft YaHei"/>
                <a:ea typeface="Microsoft YaHei"/>
              </a:rPr>
              <a:t> · </a:t>
            </a:r>
            <a:r>
              <a:rPr lang="zh-CN" sz="1425" b="1">
                <a:solidFill>
                  <a:srgbClr val="C2410C"/>
                </a:solidFill>
                <a:latin typeface="Microsoft YaHei"/>
                <a:ea typeface="Microsoft YaHei"/>
              </a:rPr>
              <a:t>共定方案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496050" y="3971925"/>
            <a:ext cx="49149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7C2D12"/>
                </a:solidFill>
                <a:latin typeface="Microsoft YaHei"/>
                <a:ea typeface="Microsoft YaHei"/>
              </a:rPr>
              <a:t>把</a:t>
            </a:r>
            <a:r>
              <a:rPr lang="en-US" sz="1200">
                <a:solidFill>
                  <a:srgbClr val="7C2D12"/>
                </a:solidFill>
                <a:latin typeface="Microsoft YaHei"/>
                <a:ea typeface="Microsoft YaHei"/>
              </a:rPr>
              <a:t> RAMS</a:t>
            </a:r>
            <a:r>
              <a:rPr lang="zh-CN" sz="1200">
                <a:solidFill>
                  <a:srgbClr val="7C2D12"/>
                </a:solidFill>
                <a:latin typeface="Microsoft YaHei"/>
                <a:ea typeface="Microsoft YaHei"/>
              </a:rPr>
              <a:t>、冗余、接口边界落到设计文件，而非事后整改。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819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上海地铁通号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×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华为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安全交流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11" name="" descr="&lt;Slide&gt;&#10;  &lt;Box style={{ position: 'absolute', top: 0, left: 0, width: 1280, height: 720, background: '#FFFFFF' }} /&gt;&#10;  &lt;Box style={{ position: 'absolute', top: 0, left: 0, width: 1280, height: 120, padding: '20px 60px', display: 'flex', flexDirection: 'column', justifyContent: 'center' }}&gt;&#10;    &lt;Text style={{ fontSize: 13, fontWeight: 'bold', color: '#0EA5E9', letterSpacing: 2 }}&gt;STAGE 2 · 建设执行&lt;/Text&gt;&#10;    &lt;Text style={{ fontSize: 34, fontWeight: 'bold', color: '#1E293B' }}&gt;建设执行：别让图纸停在 PPT 里&lt;/Text&gt;&#10;  &lt;/Box&gt;&#10;  &lt;Box style={{ position: 'absolute', top: 150, left: 60, width: 1160, height: 370, display: 'flex', flexDirection: 'column', gap: 14 }}&gt;&#10;    &lt;Text style={{ fontSize: 18, color: '#334155', lineHeight: 1.6 }}&gt;纸面设计能不能真落地，靠这最后一关。设计走四道关，一道卡了，前面的努力都打折：&lt;/Text&gt;&#10;    &lt;Box style={{ display: 'flex', flexDirection: 'row', gap: 14 }}&gt;&#10;      &lt;Box style={{ flex: 1, background: '#F8FAFC', border: '1px solid #E2E8F0', borderRadius: 12, padding: '16px 18px' }}&gt;&#10;        &lt;Text style={{ fontSize: 20, fontWeight: 'bold', color: '#2563EB' }}&gt;1 工艺化转化&lt;/Text&gt;&#10;        &lt;Text style={{ fontSize: 15, color: '#475569', lineHeight: 1.5, marginTop: 6 }}&gt;方案 → 施工工艺与实施方案&lt;/Text&gt;&#10;      &lt;/Box&gt;&#10;      &lt;Box style={{ flex: 1, background: '#F8FAFC', border: '1px solid #E2E8F0', borderRadius: 12, padding: '16px 18px' }}&gt;&#10;        &lt;Text style={{ fontSize: 20, fontWeight: 'bold', color: '#0EA5E9' }}&gt;2 施工监理&lt;/Text&gt;&#10;        &lt;Text style={{ fontSize: 15, color: '#475569', lineHeight: 1.5, marginTop: 6 }}&gt;按图施工指导与关键工序把控&lt;/Text&gt;&#10;      &lt;/Box&gt;&#10;      &lt;Box style={{ flex: 1, background: '#F8FAFC', border: '1px solid #E2E8F0', borderRadius: 12, padding: '16px 18px' }}&gt;&#10;        &lt;Text style={{ fontSize: 20, fontWeight: 'bold', color: '#2563EB' }}&gt;3 质量把控&lt;/Text&gt;&#10;        &lt;Text style={{ fontSize: 15, color: '#475569', lineHeight: 1.5, marginTop: 6 }}&gt;关键节点联合验收&lt;/Text&gt;&#10;      &lt;/Box&gt;&#10;      &lt;Box style={{ flex: 1, background: '#F8FAFC', border: '1px solid #E2E8F0', borderRadius: 12, padding: '16px 18px' }}&gt;&#10;        &lt;Text style={{ fontSize: 20, fontWeight: 'bold', color: '#0EA5E9' }}&gt;4 联调联试&lt;/Text&gt;&#10;        &lt;Text style={{ fontSize: 15, color: '#475569', lineHeight: 1.5, marginTop: 6 }}&gt;联调从产品级升运营级&lt;/Text&gt;&#10;      &lt;/Box&gt;&#10;    &lt;/Box&gt;&#10;  &lt;/Box&gt;&#10;  &lt;Box style={{ position: 'absolute', top: 540, left: 60, width: 1160, height: 100, background: '#FFF7F2', border: '1px solid #FED7AA', borderLeft: '4px solid #F97316', borderRadius: 8, padding: '16px 22px', display: 'flex', alignItems: 'center' }}&gt;&#10;    &lt;Text style={{ fontSize: 18, color: '#7C2D12', lineHeight: 1.6 }}&gt;&#10;      &lt;span style={{ fontWeight: 'bold' }}&gt;LTE 灾备&quot;设计有、落地不全&quot;&lt;/span&gt;——正与华为运维团队一起补全，把设计蓝图不走样落下去。&#10;    &lt;/Text&gt;&#10;  &lt;/Box&gt;&#10;  &lt;Box style={{ position: 'absolute', top: 660, left: 60, width: 1160, height: 60, display: 'flex', justifyContent: 'space-between', alignItems: 'center' }}&gt;&#10;    &lt;Text style={{ fontSize: 14, color: '#64748B' }}&gt;上海地铁通号 × 华为 安全交流&lt;/Text&gt;&#10;    &lt;Text style={{ fontSize: 14, color: '#64748B' }}&gt;09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11049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EA5E9"/>
                </a:solidFill>
                <a:latin typeface="Microsoft YaHei"/>
                <a:ea typeface="Microsoft YaHei"/>
              </a:rPr>
              <a:t>STAGE 2 · </a:t>
            </a:r>
            <a:r>
              <a:rPr lang="zh-CN" sz="975" b="1" spc="150">
                <a:solidFill>
                  <a:srgbClr val="0EA5E9"/>
                </a:solidFill>
                <a:latin typeface="Microsoft YaHei"/>
                <a:ea typeface="Microsoft YaHei"/>
              </a:rPr>
              <a:t>建设执行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571500" y="4572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建设执行：别让图纸停在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> PPT 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里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71500" y="1428750"/>
            <a:ext cx="110490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纸面设计能不能真落地，靠这最后一关。设计走四道关，一道卡了，前面的努力都打折：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571500" y="1895475"/>
            <a:ext cx="2667000" cy="847725"/>
          </a:xfrm>
          <a:prstGeom prst="roundRect">
            <a:avLst>
              <a:gd name="adj" fmla="val 1348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42950" y="2047875"/>
            <a:ext cx="2324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>1 </a:t>
            </a: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工艺化转化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42950" y="2333625"/>
            <a:ext cx="2324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方案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施工工艺与实施方案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3371850" y="1895475"/>
            <a:ext cx="2657475" cy="847725"/>
          </a:xfrm>
          <a:prstGeom prst="roundRect">
            <a:avLst>
              <a:gd name="adj" fmla="val 1348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3543300" y="2047875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A5E9"/>
                </a:solidFill>
                <a:latin typeface="Microsoft YaHei"/>
                <a:ea typeface="Microsoft YaHei"/>
              </a:rPr>
              <a:t>2 </a:t>
            </a:r>
            <a:r>
              <a:rPr lang="zh-CN" sz="1500" b="1">
                <a:solidFill>
                  <a:srgbClr val="0EA5E9"/>
                </a:solidFill>
                <a:latin typeface="Microsoft YaHei"/>
                <a:ea typeface="Microsoft YaHei"/>
              </a:rPr>
              <a:t>施工监理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3543300" y="2333625"/>
            <a:ext cx="23145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按图施工指导与关键工序把控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162675" y="1895475"/>
            <a:ext cx="2667000" cy="847725"/>
          </a:xfrm>
          <a:prstGeom prst="roundRect">
            <a:avLst>
              <a:gd name="adj" fmla="val 1348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334125" y="2047875"/>
            <a:ext cx="2324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>3 </a:t>
            </a: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质量把控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334125" y="2333625"/>
            <a:ext cx="2324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关键节点联合验收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8963025" y="1895475"/>
            <a:ext cx="2657475" cy="847725"/>
          </a:xfrm>
          <a:prstGeom prst="roundRect">
            <a:avLst>
              <a:gd name="adj" fmla="val 1348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9134475" y="2047875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A5E9"/>
                </a:solidFill>
                <a:latin typeface="Microsoft YaHei"/>
                <a:ea typeface="Microsoft YaHei"/>
              </a:rPr>
              <a:t>4 </a:t>
            </a:r>
            <a:r>
              <a:rPr lang="zh-CN" sz="1500" b="1">
                <a:solidFill>
                  <a:srgbClr val="0EA5E9"/>
                </a:solidFill>
                <a:latin typeface="Microsoft YaHei"/>
                <a:ea typeface="Microsoft YaHei"/>
              </a:rPr>
              <a:t>联调联试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9134475" y="2333625"/>
            <a:ext cx="23145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联调从产品级升运营级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09600" y="5143500"/>
            <a:ext cx="11010900" cy="95250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609600" y="5143500"/>
            <a:ext cx="11010900" cy="952500"/>
          </a:xfrm>
          <a:custGeom>
            <a:pathLst>
              <a:path w="1156" h="10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6"/>
                </a:lnTo>
                <a:cubicBezTo>
                  <a:pt x="4" y="98"/>
                  <a:pt x="5" y="100"/>
                  <a:pt x="7" y="100"/>
                </a:cubicBezTo>
                <a:cubicBezTo>
                  <a:pt x="3" y="100"/>
                  <a:pt x="0" y="96"/>
                  <a:pt x="0" y="9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19150" y="5457825"/>
            <a:ext cx="68961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 b="1">
                <a:solidFill>
                  <a:srgbClr val="7C2D12"/>
                </a:solidFill>
                <a:latin typeface="Microsoft YaHei"/>
                <a:ea typeface="Microsoft YaHei"/>
              </a:rPr>
              <a:t>LTE </a:t>
            </a:r>
            <a:r>
              <a:rPr lang="zh-CN" sz="1350" b="1">
                <a:solidFill>
                  <a:srgbClr val="7C2D12"/>
                </a:solidFill>
                <a:latin typeface="Microsoft YaHei"/>
                <a:ea typeface="Microsoft YaHei"/>
              </a:rPr>
              <a:t>灾备</a:t>
            </a:r>
            <a:r>
              <a:rPr lang="en-US" sz="1350" b="1">
                <a:solidFill>
                  <a:srgbClr val="7C2D12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7C2D12"/>
                </a:solidFill>
                <a:latin typeface="Microsoft YaHei"/>
                <a:ea typeface="Microsoft YaHei"/>
              </a:rPr>
              <a:t>设计有、落地不全</a:t>
            </a:r>
            <a:r>
              <a:rPr lang="en-US" sz="1350" b="1">
                <a:solidFill>
                  <a:srgbClr val="7C2D12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7C2D12"/>
                </a:solidFill>
                <a:latin typeface="Microsoft YaHei"/>
                <a:ea typeface="Microsoft YaHei"/>
              </a:rPr>
              <a:t>——正与华为运维团队一起补全，把设计蓝图不走样落下去。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819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上海地铁通号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×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华为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安全交流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0" name="" descr="&lt;Slide&gt;&#10;  &lt;Box style={{ position: 'absolute', top: 0, left: 0, width: 1280, height: 720, background: '#FFFFFF' }} /&gt;&#10;  &lt;Box style={{ position: 'absolute', top: 0, left: 0, width: 1280, height: 120, padding: '20px 60px', display: 'flex', flexDirection: 'column', justifyContent: 'center' }}&gt;&#10;    &lt;Text style={{ fontSize: 13, fontWeight: 'bold', color: '#0EA5E9', letterSpacing: 2 }}&gt;STAGE 3 · 运维保障&lt;/Text&gt;&#10;    &lt;Text style={{ fontSize: 34, fontWeight: 'bold', color: '#1E293B' }}&gt;运维保障：把&quot;经验&quot;变成&quot;能力&quot;&lt;/Text&gt;&#10;  &lt;/Box&gt;&#10;  &lt;Box style={{ position: 'absolute', top: 150, left: 60, width: 1160, height: 200, display: 'flex', flexDirection: 'row', gap: 14 }}&gt;&#10;    &lt;Box style={{ flex: 1, background: '#F8FAFC', border: '1px solid #E2E8F0', borderRadius: 12, padding: '18px 20px', display: 'flex', flexDirection: 'column', gap: 6 }}&gt;&#10;      &lt;Text style={{ fontSize: 24, fontWeight: 'bold', color: '#2563EB' }}&gt;感 · 感知&lt;/Text&gt;&#10;      &lt;Text style={{ fontSize: 15, color: '#475569', lineHeight: 1.5 }}&gt;充分理解与掌握系统状态&lt;/Text&gt;&#10;    &lt;/Box&gt;&#10;    &lt;Box style={{ flex: 1, background: '#F8FAFC', border: '1px solid #E2E8F0', borderRadius: 12, padding: '18px 20px', display: 'flex', flexDirection: 'column', gap: 6 }}&gt;&#10;      &lt;Text style={{ fontSize: 24, fontWeight: 'bold', color: '#0EA5E9' }}&gt;预 · 预警&lt;/Text&gt;&#10;      &lt;Text style={{ fontSize: 15, color: '#475569', lineHeight: 1.5 }}&gt;风险早识别、早提示&lt;/Text&gt;&#10;    &lt;/Box&gt;&#10;    &lt;Box style={{ flex: 1, background: '#F8FAFC', border: '1px solid #E2E8F0', borderRadius: 12, padding: '18px 20px', display: 'flex', flexDirection: 'column', gap: 6 }}&gt;&#10;      &lt;Text style={{ fontSize: 24, fontWeight: 'bold', color: '#2563EB' }}&gt;定 · 定位&lt;/Text&gt;&#10;      &lt;Text style={{ fontSize: 15, color: '#475569', lineHeight: 1.5 }}&gt;故障精准定位&lt;/Text&gt;&#10;    &lt;/Box&gt;&#10;    &lt;Box style={{ flex: 1, background: '#F8FAFC', border: '1px solid #E2E8F0', borderRadius: 12, padding: '18px 20px', display: 'flex', flexDirection: 'column', gap: 6 }}&gt;&#10;      &lt;Text style={{ fontSize: 24, fontWeight: 'bold', color: '#0EA5E9' }}&gt;操 · 操作&lt;/Text&gt;&#10;      &lt;Text style={{ fontSize: 15, color: '#475569', lineHeight: 1.5 }}&gt;快速恢复业务&lt;/Text&gt;&#10;    &lt;/Box&gt;&#10;  &lt;/Box&gt;&#10;  &lt;Box style={{ position: 'absolute', top: 372, left: 60, width: 1160, height: 90, background: '#EFF4FF', borderLeft: '4px solid #2563EB', borderRadius: 8, padding: '14px 22px', display: 'flex', alignItems: 'center' }}&gt;&#10;    &lt;Text style={{ fontSize: 18, color: '#1E40AF', lineHeight: 1.6 }}&gt;无线环境智能监测系统：同类事件处置从小时级压至最快 &lt;span style={{ fontWeight: 'bold' }}&gt;0.5 小时&lt;/span&gt;，效率提升一个数量级。&lt;/Text&gt;&#10;  &lt;/Box&gt;&#10;  &lt;Box style={{ position: 'absolute', top: 478, left: 60, width: 1160, height: 150, background: '#FFF7F2', border: '1px solid #FED7AA', borderRadius: 12, padding: '18px 22px', display: 'flex', flexDirection: 'column', gap: 8 }}&gt;&#10;    &lt;Text style={{ fontSize: 19, fontWeight: 'bold', color: '#C2410C' }}&gt;华为关键作用 · 把经验产品化&lt;/Text&gt;&#10;    &lt;Text style={{ fontSize: 16, color: '#7C2D12', lineHeight: 1.6 }}&gt;联合开发监测工具、培训演练精准——把一次性的经验，沉淀为可复制的能力；我们和华为共同探索的协作运维模式，还可以进一步深化，找最佳平衡点。&lt;/Text&gt;&#10;  &lt;/Box&gt;&#10;  &lt;Box style={{ position: 'absolute', top: 660, left: 60, width: 1160, height: 60, display: 'flex', justifyContent: 'space-between', alignItems: 'center' }}&gt;&#10;    &lt;Text style={{ fontSize: 14, color: '#64748B' }}&gt;上海地铁通号 × 华为 安全交流&lt;/Text&gt;&#10;    &lt;Text style={{ fontSize: 14, color: '#64748B' }}&gt;10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11049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EA5E9"/>
                </a:solidFill>
                <a:latin typeface="Microsoft YaHei"/>
                <a:ea typeface="Microsoft YaHei"/>
              </a:rPr>
              <a:t>STAGE 3 · </a:t>
            </a:r>
            <a:r>
              <a:rPr lang="zh-CN" sz="975" b="1" spc="150">
                <a:solidFill>
                  <a:srgbClr val="0EA5E9"/>
                </a:solidFill>
                <a:latin typeface="Microsoft YaHei"/>
                <a:ea typeface="Microsoft YaHei"/>
              </a:rPr>
              <a:t>运维保障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71500" y="4572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运维保障：把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经验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变成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能力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571500" y="1428750"/>
            <a:ext cx="26670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762000" y="1600200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563EB"/>
                </a:solidFill>
                <a:latin typeface="Microsoft YaHei"/>
                <a:ea typeface="Microsoft YaHei"/>
              </a:rPr>
              <a:t>感</a:t>
            </a:r>
            <a:r>
              <a:rPr lang="en-US" sz="1800" b="1">
                <a:solidFill>
                  <a:srgbClr val="2563EB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2563EB"/>
                </a:solidFill>
                <a:latin typeface="Microsoft YaHei"/>
                <a:ea typeface="Microsoft YaHei"/>
              </a:rPr>
              <a:t>感知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762000" y="1933575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充分理解与掌握系统状态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3371850" y="1428750"/>
            <a:ext cx="2657475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3562350" y="1600200"/>
            <a:ext cx="2276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A5E9"/>
                </a:solidFill>
                <a:latin typeface="Microsoft YaHei"/>
                <a:ea typeface="Microsoft YaHei"/>
              </a:rPr>
              <a:t>预</a:t>
            </a:r>
            <a:r>
              <a:rPr lang="en-US" sz="1800" b="1">
                <a:solidFill>
                  <a:srgbClr val="0EA5E9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0EA5E9"/>
                </a:solidFill>
                <a:latin typeface="Microsoft YaHei"/>
                <a:ea typeface="Microsoft YaHei"/>
              </a:rPr>
              <a:t>预警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3562350" y="1933575"/>
            <a:ext cx="22764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风险早识别、早提示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162675" y="1428750"/>
            <a:ext cx="26670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353175" y="1600200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563EB"/>
                </a:solidFill>
                <a:latin typeface="Microsoft YaHei"/>
                <a:ea typeface="Microsoft YaHei"/>
              </a:rPr>
              <a:t>定</a:t>
            </a:r>
            <a:r>
              <a:rPr lang="en-US" sz="1800" b="1">
                <a:solidFill>
                  <a:srgbClr val="2563EB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2563EB"/>
                </a:solidFill>
                <a:latin typeface="Microsoft YaHei"/>
                <a:ea typeface="Microsoft YaHei"/>
              </a:rPr>
              <a:t>定位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353175" y="1933575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故障精准定位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8963025" y="1428750"/>
            <a:ext cx="2657475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153525" y="1600200"/>
            <a:ext cx="2276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A5E9"/>
                </a:solidFill>
                <a:latin typeface="Microsoft YaHei"/>
                <a:ea typeface="Microsoft YaHei"/>
              </a:rPr>
              <a:t>操</a:t>
            </a:r>
            <a:r>
              <a:rPr lang="en-US" sz="1800" b="1">
                <a:solidFill>
                  <a:srgbClr val="0EA5E9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0EA5E9"/>
                </a:solidFill>
                <a:latin typeface="Microsoft YaHei"/>
                <a:ea typeface="Microsoft YaHei"/>
              </a:rPr>
              <a:t>操作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153525" y="1933575"/>
            <a:ext cx="22764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快速恢复业务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09600" y="3543300"/>
            <a:ext cx="11010900" cy="857250"/>
          </a:xfrm>
          <a:prstGeom prst="roundRect">
            <a:avLst>
              <a:gd name="adj" fmla="val 8889"/>
            </a:avLst>
          </a:prstGeom>
          <a:solidFill>
            <a:srgbClr val="EFF4FF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609600" y="3543300"/>
            <a:ext cx="11010900" cy="857250"/>
          </a:xfrm>
          <a:custGeom>
            <a:pathLst>
              <a:path w="1156" h="9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6"/>
                </a:lnTo>
                <a:cubicBezTo>
                  <a:pt x="4" y="88"/>
                  <a:pt x="5" y="90"/>
                  <a:pt x="7" y="90"/>
                </a:cubicBezTo>
                <a:cubicBezTo>
                  <a:pt x="3" y="90"/>
                  <a:pt x="0" y="86"/>
                  <a:pt x="0" y="8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19150" y="3810000"/>
            <a:ext cx="68865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1E40AF"/>
                </a:solidFill>
                <a:latin typeface="Microsoft YaHei"/>
                <a:ea typeface="Microsoft YaHei"/>
              </a:rPr>
              <a:t>无线环境智能监测系统：同类事件处置从小时级压至最快</a:t>
            </a:r>
            <a:r>
              <a:rPr lang="en-US" sz="1350">
                <a:solidFill>
                  <a:srgbClr val="1E40AF"/>
                </a:solidFill>
                <a:latin typeface="Microsoft YaHei"/>
                <a:ea typeface="Microsoft YaHei"/>
              </a:rPr>
              <a:t> </a:t>
            </a:r>
            <a:r>
              <a:rPr lang="en-US" sz="1350" b="1">
                <a:solidFill>
                  <a:srgbClr val="1E40AF"/>
                </a:solidFill>
                <a:latin typeface="Microsoft YaHei"/>
                <a:ea typeface="Microsoft YaHei"/>
              </a:rPr>
              <a:t>0.5 </a:t>
            </a:r>
            <a:r>
              <a:rPr lang="zh-CN" sz="1350" b="1">
                <a:solidFill>
                  <a:srgbClr val="1E40AF"/>
                </a:solidFill>
                <a:latin typeface="Microsoft YaHei"/>
                <a:ea typeface="Microsoft YaHei"/>
              </a:rPr>
              <a:t>小时</a:t>
            </a:r>
            <a:r>
              <a:rPr lang="zh-CN" sz="1350">
                <a:solidFill>
                  <a:srgbClr val="1E40AF"/>
                </a:solidFill>
                <a:latin typeface="Microsoft YaHei"/>
                <a:ea typeface="Microsoft YaHei"/>
              </a:rPr>
              <a:t>，效率提升一个数量级。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571500" y="4552950"/>
            <a:ext cx="11049000" cy="142875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12700">
            <a:solidFill>
              <a:srgbClr val="FED7AA"/>
            </a:solidFill>
            <a:prstDash val="solid"/>
          </a:ln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81050" y="4724400"/>
            <a:ext cx="1062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2410C"/>
                </a:solidFill>
                <a:latin typeface="Microsoft YaHei"/>
                <a:ea typeface="Microsoft YaHei"/>
              </a:rPr>
              <a:t>华为关键作用</a:t>
            </a:r>
            <a:r>
              <a:rPr lang="en-US" sz="1425" b="1">
                <a:solidFill>
                  <a:srgbClr val="C2410C"/>
                </a:solidFill>
                <a:latin typeface="Microsoft YaHei"/>
                <a:ea typeface="Microsoft YaHei"/>
              </a:rPr>
              <a:t> · </a:t>
            </a:r>
            <a:r>
              <a:rPr lang="zh-CN" sz="1425" b="1">
                <a:solidFill>
                  <a:srgbClr val="C2410C"/>
                </a:solidFill>
                <a:latin typeface="Microsoft YaHei"/>
                <a:ea typeface="Microsoft YaHei"/>
              </a:rPr>
              <a:t>把经验产品化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81050" y="5019675"/>
            <a:ext cx="106299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7C2D12"/>
                </a:solidFill>
                <a:latin typeface="Microsoft YaHei"/>
                <a:ea typeface="Microsoft YaHei"/>
              </a:rPr>
              <a:t>联合开发监测工具、培训演练精准——把一次性的经验，沉淀为可复制的能力；我们和华为共同探索的协作运维模式，还可以进一步深化，找最佳平衡点。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819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上海地铁通号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×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华为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安全交流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4" name="" descr="&lt;Slide&gt;&#10;  &lt;Box style={{ position: 'absolute', top: 0, left: 0, width: 1280, height: 720, background: '#FFFFFF' }} /&gt;&#10;  &lt;Box style={{ position: 'absolute', top: 0, left: 0, width: 1280, height: 120, padding: '20px 60px', display: 'flex', flexDirection: 'column', justifyContent: 'center' }}&gt;&#10;    &lt;Text style={{ fontSize: 13, fontWeight: 'bold', color: '#0EA5E9', letterSpacing: 2 }}&gt;STAGE 4 · 全生命周期&lt;/Text&gt;&#10;    &lt;Text style={{ fontSize: 34, fontWeight: 'bold', color: '#1E293B' }}&gt;全生命周期：15 年的承诺，谁来兜底&lt;/Text&gt;&#10;  &lt;/Box&gt;&#10;  &lt;Box style={{ position: 'absolute', top: 150, left: 60, width: 1160, height: 490, display: 'flex', flexDirection: 'row', gap: 30 }}&gt;&#10;    &lt;Box style={{ width: 560, display: 'flex', flexDirection: 'column', justifyContent: 'center' }}&gt;&#10;      &lt;svg width={560} height={300} viewBox='0 0 560 300'&gt;&#10;        &lt;line x1={40} y1={150} x2={520} y2={150} stroke='#2563EB' stroke-width={4} /&gt;&#10;        &lt;circle cx={40} cy={150} r={10} fill='#2563EB' /&gt;&#10;        &lt;text x={40} y={188} fill='#1E293B' font-size={16} text-anchor='middle'&gt;投运&lt;/text&gt;&#10;        &lt;circle cx={360} cy={150} r={10} fill='#0EA5E9' /&gt;&#10;        &lt;text x={360} y={188} fill='#1E293B' font-size={16} text-anchor='middle'&gt;第 10 年&lt;/text&gt;&#10;        &lt;circle cx={520} cy={150} r={10} fill='#F97316' /&gt;&#10;        &lt;text x={520} y={188} fill='#1E293B' font-size={16} text-anchor='middle'&gt;第 15 年&lt;/text&gt;&#10;        &lt;rect x={372} y={110} width={146} height={60} fill='#FEF3E2' stroke='#F97316' stroke-width={2} stroke-dasharray='6 4' /&gt;&#10;        &lt;text x={445} y={138} fill='#C2410C' font-size={15} text-anchor='middle'&gt;通用政策空白期&lt;/text&gt;&#10;        &lt;text x={40} y={95} fill='#2563EB' font-size={15} text-anchor='middle'&gt;设计寿命 10~15 年&lt;/text&gt;&#10;      &lt;/svg&gt;&#10;    &lt;/Box&gt;&#10;    &lt;Box style={{ flex: 1, display: 'flex', flexDirection: 'column', gap: 12, justifyContent: 'center' }}&gt;&#10;      &lt;Text style={{ fontSize: 17, color: '#334155', lineHeight: 1.65 }}&gt;轨交通信系统设计寿命 10~15 年，需持续备件与服务支持；后期常现停产停服。&lt;/Text&gt;&#10;      &lt;Box style={{ background: '#EFF4FF', borderLeft: '4px solid #2563EB', borderRadius: 8, padding: '12px 18px' }}&gt;&#10;        &lt;Text style={{ fontSize: 16, color: '#1E40AF', lineHeight: 1.55 }}&gt;华为 EOM/EOFS/EOS 生命周期管理规范化、公开化，我们认可。&lt;/Text&gt;&#10;      &lt;/Box&gt;&#10;      &lt;Box style={{ background: '#FFF7F2', borderLeft: '4px solid #F97316', borderRadius: 8, padding: '12px 18px' }}&gt;&#10;        &lt;Text style={{ fontSize: 16, color: '#C2410C', lineHeight: 1.55 }}&gt;但通用政策到第 10 年空白——14/15/18 线&quot;二次开发各自为政&quot;是前车之鉴。&lt;/Text&gt;&#10;      &lt;/Box&gt;&#10;      &lt;Box style={{ background: '#EFF4FF', borderLeft: '4px solid #0EA5E9', borderRadius: 8, padding: '12px 18px' }}&gt;&#10;        &lt;Text style={{ fontSize: 16, color: '#1E40AF', lineHeight: 1.55 }}&gt;希望华为供货选型考虑生命周期，停产后给替代方案——让系统 15 年始终可控。&lt;/Text&gt;&#10;      &lt;/Box&gt;&#10;    &lt;/Box&gt;&#10;  &lt;/Box&gt;&#10;  &lt;Box style={{ position: 'absolute', top: 660, left: 60, width: 1160, height: 60, display: 'flex', justifyContent: 'space-between', alignItems: 'center' }}&gt;&#10;    &lt;Text style={{ fontSize: 14, color: '#64748B' }}&gt;上海地铁通号 × 华为 安全交流&lt;/Text&gt;&#10;    &lt;Text style={{ fontSize: 14, color: '#64748B' }}&gt;11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11049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EA5E9"/>
                </a:solidFill>
                <a:latin typeface="Microsoft YaHei"/>
                <a:ea typeface="Microsoft YaHei"/>
              </a:rPr>
              <a:t>STAGE 4 · </a:t>
            </a:r>
            <a:r>
              <a:rPr lang="zh-CN" sz="975" b="1" spc="150">
                <a:solidFill>
                  <a:srgbClr val="0EA5E9"/>
                </a:solidFill>
                <a:latin typeface="Microsoft YaHei"/>
                <a:ea typeface="Microsoft YaHei"/>
              </a:rPr>
              <a:t>全生命周期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571500" y="4572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全生命周期：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>15 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年的承诺，谁来兜底</a:t>
            </a:r>
            <a:endParaRPr/>
          </a:p>
        </p:txBody>
      </p:sp>
      <p:pic>
        <p:nvPicPr>
          <p:cNvPr id="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2333625"/>
            <a:ext cx="5334000" cy="2857500"/>
          </a:xfrm>
          <a:prstGeom prst="rect">
            <a:avLst/>
          </a:prstGeom>
          <a:ln/>
        </p:spPr>
      </p:pic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191250" y="2209800"/>
            <a:ext cx="54292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轨交通信系统设计寿命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> 10~15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年，需持续备件与服务支持；后期常现停产停服。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229350" y="2971800"/>
            <a:ext cx="5429250" cy="514350"/>
          </a:xfrm>
          <a:prstGeom prst="roundRect">
            <a:avLst>
              <a:gd name="adj" fmla="val 14815"/>
            </a:avLst>
          </a:prstGeom>
          <a:solidFill>
            <a:srgbClr val="EFF4FF"/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6229350" y="2971800"/>
            <a:ext cx="5429250" cy="514350"/>
          </a:xfrm>
          <a:custGeom>
            <a:pathLst>
              <a:path w="570" h="5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0"/>
                </a:lnTo>
                <a:cubicBezTo>
                  <a:pt x="4" y="52"/>
                  <a:pt x="5" y="54"/>
                  <a:pt x="7" y="54"/>
                </a:cubicBezTo>
                <a:cubicBezTo>
                  <a:pt x="3" y="54"/>
                  <a:pt x="0" y="50"/>
                  <a:pt x="0" y="4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400800" y="3086100"/>
            <a:ext cx="5048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E40AF"/>
                </a:solidFill>
                <a:latin typeface="Microsoft YaHei"/>
                <a:ea typeface="Microsoft YaHei"/>
              </a:rPr>
              <a:t>华为</a:t>
            </a:r>
            <a:r>
              <a:rPr lang="en-US" sz="1200">
                <a:solidFill>
                  <a:srgbClr val="1E40AF"/>
                </a:solidFill>
                <a:latin typeface="Microsoft YaHei"/>
                <a:ea typeface="Microsoft YaHei"/>
              </a:rPr>
              <a:t> EOM/EOFS/EOS </a:t>
            </a:r>
            <a:r>
              <a:rPr lang="zh-CN" sz="1200">
                <a:solidFill>
                  <a:srgbClr val="1E40AF"/>
                </a:solidFill>
                <a:latin typeface="Microsoft YaHei"/>
                <a:ea typeface="Microsoft YaHei"/>
              </a:rPr>
              <a:t>生命周期管理规范化、公开化，我们认可。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229350" y="3600450"/>
            <a:ext cx="5429250" cy="800100"/>
          </a:xfrm>
          <a:prstGeom prst="roundRect">
            <a:avLst>
              <a:gd name="adj" fmla="val 9524"/>
            </a:avLst>
          </a:prstGeom>
          <a:solidFill>
            <a:srgbClr val="FFF7F2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229350" y="3600450"/>
            <a:ext cx="5429250" cy="800100"/>
          </a:xfrm>
          <a:custGeom>
            <a:pathLst>
              <a:path w="570" h="8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0"/>
                </a:lnTo>
                <a:cubicBezTo>
                  <a:pt x="4" y="82"/>
                  <a:pt x="5" y="84"/>
                  <a:pt x="7" y="84"/>
                </a:cubicBezTo>
                <a:cubicBezTo>
                  <a:pt x="3" y="84"/>
                  <a:pt x="0" y="80"/>
                  <a:pt x="0" y="7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400800" y="3714750"/>
            <a:ext cx="5048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C2410C"/>
                </a:solidFill>
                <a:latin typeface="Microsoft YaHei"/>
                <a:ea typeface="Microsoft YaHei"/>
              </a:rPr>
              <a:t>但通用政策到第</a:t>
            </a:r>
            <a:r>
              <a:rPr lang="en-US" sz="1200">
                <a:solidFill>
                  <a:srgbClr val="C2410C"/>
                </a:solidFill>
                <a:latin typeface="Microsoft YaHei"/>
                <a:ea typeface="Microsoft YaHei"/>
              </a:rPr>
              <a:t> 10 </a:t>
            </a:r>
            <a:r>
              <a:rPr lang="zh-CN" sz="1200">
                <a:solidFill>
                  <a:srgbClr val="C2410C"/>
                </a:solidFill>
                <a:latin typeface="Microsoft YaHei"/>
                <a:ea typeface="Microsoft YaHei"/>
              </a:rPr>
              <a:t>年空白——</a:t>
            </a:r>
            <a:r>
              <a:rPr lang="en-US" sz="1200">
                <a:solidFill>
                  <a:srgbClr val="C2410C"/>
                </a:solidFill>
                <a:latin typeface="Microsoft YaHei"/>
                <a:ea typeface="Microsoft YaHei"/>
              </a:rPr>
              <a:t>14/15/18 </a:t>
            </a:r>
            <a:r>
              <a:rPr lang="zh-CN" sz="1200">
                <a:solidFill>
                  <a:srgbClr val="C2410C"/>
                </a:solidFill>
                <a:latin typeface="Microsoft YaHei"/>
                <a:ea typeface="Microsoft YaHei"/>
              </a:rPr>
              <a:t>线</a:t>
            </a:r>
            <a:r>
              <a:rPr lang="en-US" sz="1200">
                <a:solidFill>
                  <a:srgbClr val="C2410C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C2410C"/>
                </a:solidFill>
                <a:latin typeface="Microsoft YaHei"/>
                <a:ea typeface="Microsoft YaHei"/>
              </a:rPr>
              <a:t>二次开发各自为政</a:t>
            </a:r>
            <a:r>
              <a:rPr lang="en-US" sz="1200">
                <a:solidFill>
                  <a:srgbClr val="C2410C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C2410C"/>
                </a:solidFill>
                <a:latin typeface="Microsoft YaHei"/>
                <a:ea typeface="Microsoft YaHei"/>
              </a:rPr>
              <a:t>是前车之鉴。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229350" y="4514850"/>
            <a:ext cx="5429250" cy="800100"/>
          </a:xfrm>
          <a:prstGeom prst="roundRect">
            <a:avLst>
              <a:gd name="adj" fmla="val 9524"/>
            </a:avLst>
          </a:prstGeom>
          <a:solidFill>
            <a:srgbClr val="EFF4FF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6229350" y="4514850"/>
            <a:ext cx="5429250" cy="800100"/>
          </a:xfrm>
          <a:custGeom>
            <a:pathLst>
              <a:path w="570" h="8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0"/>
                </a:lnTo>
                <a:cubicBezTo>
                  <a:pt x="4" y="82"/>
                  <a:pt x="5" y="84"/>
                  <a:pt x="7" y="84"/>
                </a:cubicBezTo>
                <a:cubicBezTo>
                  <a:pt x="3" y="84"/>
                  <a:pt x="0" y="80"/>
                  <a:pt x="0" y="7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400800" y="4629150"/>
            <a:ext cx="5048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E40AF"/>
                </a:solidFill>
                <a:latin typeface="Microsoft YaHei"/>
                <a:ea typeface="Microsoft YaHei"/>
              </a:rPr>
              <a:t>希望华为供货选型考虑生命周期，停产后给替代方案——让系统</a:t>
            </a:r>
            <a:r>
              <a:rPr lang="en-US" sz="1200">
                <a:solidFill>
                  <a:srgbClr val="1E40AF"/>
                </a:solidFill>
                <a:latin typeface="Microsoft YaHei"/>
                <a:ea typeface="Microsoft YaHei"/>
              </a:rPr>
              <a:t> 15 </a:t>
            </a:r>
            <a:r>
              <a:rPr lang="zh-CN" sz="1200">
                <a:solidFill>
                  <a:srgbClr val="1E40AF"/>
                </a:solidFill>
                <a:latin typeface="Microsoft YaHei"/>
                <a:ea typeface="Microsoft YaHei"/>
              </a:rPr>
              <a:t>年始终可控。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819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上海地铁通号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×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华为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安全交流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51" name="" descr="&lt;Slide&gt;&#10;  &lt;Image src=&quot;C:/Users/yuanzhiqian/WorkBuddy/Claw/面向华为安全交流v8/assets/cover_metro.png&quot; style={{ position: 'absolute', top: 0, left: 0, width: 1280, height: 720, objectFit: 'cover' }} /&gt;&#10;  &lt;Box style={{ position: 'absolute', top: 0, left: 0, width: 1280, height: 720, background: 'linear-gradient(135deg, rgba(15,42,94,0.62) 0%, rgba(30,64,175,0.72) 100%)' }} /&gt;&#10;  &lt;Box style={{ position: 'absolute', top: 0, left: 0, width: 1280, height: 720, display: 'flex', flexDirection: 'column', alignItems: 'center', justifyContent: 'center', gap: 28 }}&gt;&#10;    &lt;Text style={{ fontSize: 15, fontWeight: 'bold', color: '#7DD3FC', letterSpacing: 3 }}&gt;THANK YOU · 安全共建&lt;/Text&gt;&#10;    &lt;Text style={{ fontSize: 52, fontWeight: 'bold', color: '#FFFFFF', textAlign: 'center', lineHeight: 1.25 }}&gt;把下一个十年，交给能陪跑 15 年的伙伴&lt;/Text&gt;&#10;    &lt;Text style={{ fontSize: 24, color: '#E0ECFF', textAlign: 'center', lineHeight: 1.7 }}&gt;今天安全，明年安全，15 年后的每一天都安全。&lt;/Text&gt;&#10;    &lt;Text style={{ fontSize: 20, color: '#C7D6F0', textAlign: 'center', lineHeight: 1.7 }}&gt;这既是上海地铁对市民的承诺，也是希望和华为一起守住的底线。&lt;/Text&gt;&#10;    &lt;Text style={{ fontSize: 18, color: '#9DB2D6', marginTop: 10 }}&gt;上海地铁维保通号分公司 · 谢谢&lt;/Text&gt;&#10;  &lt;/Box&gt;&#10;  &lt;Text style={{ position: 'absolute', bottom: 40, right: 80, fontSize: 14, color: '#9DB2D6' }}&gt;12 / 1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A5E">
                  <a:alpha val="62000"/>
                </a:srgbClr>
              </a:gs>
              <a:gs pos="100000">
                <a:srgbClr val="1E40AF">
                  <a:alpha val="72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057775" y="1857375"/>
            <a:ext cx="2076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7DD3FC"/>
                </a:solidFill>
                <a:latin typeface="Microsoft YaHei"/>
                <a:ea typeface="Microsoft YaHei"/>
              </a:rPr>
              <a:t>THANK YOU · </a:t>
            </a:r>
            <a:r>
              <a:rPr lang="zh-CN" sz="1125" b="1" spc="225">
                <a:solidFill>
                  <a:srgbClr val="7DD3FC"/>
                </a:solidFill>
                <a:latin typeface="Microsoft YaHei"/>
                <a:ea typeface="Microsoft YaHei"/>
              </a:rPr>
              <a:t>安全共建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676400" y="2295525"/>
            <a:ext cx="8839200" cy="74295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把下一个十年，交给能陪跑</a:t>
            </a:r>
            <a:r>
              <a:rPr lang="en-US" sz="3900" b="1">
                <a:solidFill>
                  <a:srgbClr val="FFFFFF"/>
                </a:solidFill>
                <a:latin typeface="Microsoft YaHei"/>
                <a:ea typeface="Microsoft YaHei"/>
              </a:rPr>
              <a:t> 15 </a:t>
            </a: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年的伙伴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3638550" y="3305175"/>
            <a:ext cx="4914900" cy="466725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800">
                <a:solidFill>
                  <a:srgbClr val="E0ECFF"/>
                </a:solidFill>
                <a:latin typeface="Microsoft YaHei"/>
                <a:ea typeface="Microsoft YaHei"/>
              </a:rPr>
              <a:t>今天安全，明年安全，</a:t>
            </a:r>
            <a:r>
              <a:rPr lang="en-US" sz="1800">
                <a:solidFill>
                  <a:srgbClr val="E0ECFF"/>
                </a:solidFill>
                <a:latin typeface="Microsoft YaHei"/>
                <a:ea typeface="Microsoft YaHei"/>
              </a:rPr>
              <a:t>15 </a:t>
            </a:r>
            <a:r>
              <a:rPr lang="zh-CN" sz="1800">
                <a:solidFill>
                  <a:srgbClr val="E0ECFF"/>
                </a:solidFill>
                <a:latin typeface="Microsoft YaHei"/>
                <a:ea typeface="Microsoft YaHei"/>
              </a:rPr>
              <a:t>年后的每一天都安全。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333750" y="4038600"/>
            <a:ext cx="5524500" cy="390525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500">
                <a:solidFill>
                  <a:srgbClr val="C7D6F0"/>
                </a:solidFill>
                <a:latin typeface="Microsoft YaHei"/>
                <a:ea typeface="Microsoft YaHei"/>
              </a:rPr>
              <a:t>这既是上海地铁对市民的承诺，也是希望和华为一起守住的底线。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914900" y="4791075"/>
            <a:ext cx="2371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9DB2D6"/>
                </a:solidFill>
                <a:latin typeface="Microsoft YaHei"/>
                <a:ea typeface="Microsoft YaHei"/>
              </a:rPr>
              <a:t>上海地铁维保通号分公司</a:t>
            </a:r>
            <a:r>
              <a:rPr lang="en-US" sz="1350">
                <a:solidFill>
                  <a:srgbClr val="9DB2D6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9DB2D6"/>
                </a:solidFill>
                <a:latin typeface="Microsoft YaHei"/>
                <a:ea typeface="Microsoft YaHei"/>
              </a:rPr>
              <a:t>谢谢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09728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DB2D6"/>
                </a:solidFill>
                <a:latin typeface="Microsoft YaHei"/>
                <a:ea typeface="Microsoft YaHei"/>
              </a:rPr>
              <a:t>12 / 12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2026-09-11T19:59:23Z</dcterms:created>
  <dcterms:modified xsi:type="dcterms:W3CDTF">2026-09-11T19:59:23Z</dcterms:modified>
</cp:coreProperties>
</file>