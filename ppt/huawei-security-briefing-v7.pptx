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tableStyles" Target="tableStyles.xml" /><Relationship Id="rId13" Type="http://schemas.openxmlformats.org/officeDocument/2006/relationships/presProps" Target="presProps.xml" /><Relationship Id="rId15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'1280px', height: '720px', padding: 0, background: '#0F2A5E', fontFamily: &quot;'Source Han Sans SC', 'PingFang SC', 'Microsoft YaHei', sans-serif&quot; }}&gt;&#10;  &lt;Image src=&quot;assets/cover_metro.png&quot; style={{ position: 'absolute', top: 0, left: 0, width: '100%', height: '100%', objectFit: 'cover' }} /&gt;&#10;  &lt;Box style={{ position: 'absolute', top: 0, left: 0, width: '100%', height: '100%', background: 'linear-gradient(90deg, rgba(15,42,94,0.88) 0%, rgba(15,42,94,0.55) 40%, rgba(15,42,94,0.15) 75%, transparent 100%)' }} /&gt;&#10;  &lt;Box style={{ position: 'absolute', top: 0, left: 0, width: '720px', height: '100%', flexDirection: 'column', justifyContent: 'center', padding: '0 80px' }}&gt;&#10;    &lt;Text style={{ fontSize: 20, color: '#0EA5E9', fontWeight: 'bold', letterSpacing: 6, marginBottom: 28 }}&gt;SHANGHAI METRO × HUAWEI · 安全交流&lt;/Text&gt;&#10;    &lt;Text style={{ fontSize: 64, color: '#FFFFFF', fontWeight: 'bold', lineHeight: 1.2, marginBottom: 28 }}&gt;&#10;      &lt;span style={{ color: '#0EA5E9' }}&gt;面向华为&lt;/span&gt;的安全交流&#10;    &lt;/Text&gt;&#10;    &lt;Text style={{ fontSize: 30, color: 'rgba(255,255,255,0.92)', fontWeight: 'normal', lineHeight: 1.4, marginBottom: 44 }}&gt;把运营安全，交给能陪跑 15 年的伙伴&lt;/Text&gt;&#10;    &lt;Box style={{ width: 56, height: 4, background: '#F97316', marginBottom: 24 }} /&gt;&#10;    &lt;Text style={{ fontSize: 18, color: 'rgba(255,255,255,0.78)' }}&gt;上海地铁维保通号分公司 · 分管通信专业&lt;/Text&gt;&#10;    &lt;Text style={{ fontSize: 16, color: 'rgba(255,255,255,0.55)', marginTop: 8 }}&gt;2026 年 9 月&lt;/Text&gt;&#10;  &lt;/Box&gt;&#10;  &lt;Text style={{ position: 'absolute', bottom: 24, right: 60, fontSize: 14, color: 'rgba(255,255,255,0.7)' }}&gt;01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2A5E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5E">
                  <a:alpha val="88000"/>
                </a:srgbClr>
              </a:gs>
              <a:gs pos="40000">
                <a:srgbClr val="0F2A5E">
                  <a:alpha val="55000"/>
                </a:srgbClr>
              </a:gs>
              <a:gs pos="75000">
                <a:srgbClr val="0F2A5E">
                  <a:alpha val="1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1228725"/>
            <a:ext cx="53340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 b="1" spc="450">
                <a:solidFill>
                  <a:srgbClr val="0EA5E9"/>
                </a:solidFill>
                <a:latin typeface="Source Han Sans SC"/>
                <a:ea typeface="Source Han Sans SC"/>
              </a:rPr>
              <a:t>SHANGHAI METRO × HUAWEI · </a:t>
            </a:r>
            <a:r>
              <a:rPr lang="zh-CN" sz="1500" b="1" spc="450">
                <a:solidFill>
                  <a:srgbClr val="0EA5E9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1952625"/>
            <a:ext cx="533400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EA5E9"/>
                </a:solidFill>
                <a:latin typeface="Source Han Sans SC"/>
                <a:ea typeface="Source Han Sans SC"/>
              </a:rPr>
              <a:t>面向华为</a:t>
            </a: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的安全交流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981450"/>
            <a:ext cx="53340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把运营安全，交给能陪跑</a:t>
            </a:r>
            <a:r>
              <a:rPr lang="en-US" sz="22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15 </a:t>
            </a:r>
            <a:r>
              <a:rPr lang="zh-CN" sz="22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年的伙伴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4886325"/>
            <a:ext cx="5334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153025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8000"/>
                  </a:srgbClr>
                </a:solidFill>
                <a:latin typeface="Source Han Sans SC"/>
                <a:ea typeface="Source Han Sans SC"/>
              </a:rPr>
              <a:t>上海地铁维保通号分公司</a:t>
            </a:r>
            <a:r>
              <a:rPr lang="en-US" sz="1350">
                <a:solidFill>
                  <a:srgbClr val="FFFFFF">
                    <a:alpha val="78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FFFFFF">
                    <a:alpha val="78000"/>
                  </a:srgbClr>
                </a:solidFill>
                <a:latin typeface="Source Han Sans SC"/>
                <a:ea typeface="Source Han Sans SC"/>
              </a:rPr>
              <a:t>分管通信专业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543877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2026 </a:t>
            </a:r>
            <a:r>
              <a:rPr lang="zh-CN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年</a:t>
            </a:r>
            <a:r>
              <a:rPr lang="en-US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 9 </a:t>
            </a:r>
            <a:r>
              <a:rPr lang="zh-CN" sz="1200">
                <a:solidFill>
                  <a:srgbClr val="FFFFFF">
                    <a:alpha val="55000"/>
                  </a:srgbClr>
                </a:solidFill>
                <a:latin typeface="Source Han Sans SC"/>
                <a:ea typeface="Source Han Sans SC"/>
              </a:rPr>
              <a:t>月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11633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01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flex: 1, flexDirection: 'row', gap: 48, alignItems: 'center' }}&gt;&#10;      &lt;Box style={{ width: 300, justifyContent: 'center' }}&gt;&#10;        &lt;Text style={{ fontSize: 14, color: '#2563EB', fontWeight: 'bold', letterSpacing: 4, marginBottom: 10 }}&gt;AGENDA · 交流结构&lt;/Text&gt;&#10;        &lt;Text style={{ fontSize: 42, color: '#1E293B', fontWeight: 'bold', lineHeight: 1.3 }}&gt;今天&lt;br /&gt;聊什么&lt;/Text&gt;&#10;        &lt;Box style={{ width: 48, height: 4, background: '#F97316', marginTop: 18 }} /&gt;&#10;      &lt;/Box&gt;&#10;      &lt;Box style={{ flex: 1, flexDirection: 'column', justifyContent: 'center', gap: 20 }}&gt;&#10;        &lt;Box style={{ flexDirection: 'row', alignItems: 'center', gap: 18 }}&gt;&#10;          &lt;Box style={{ width: 44, height: 44, borderRadius: 22, background: 'linear-gradient(135deg,#2563EB 0%,#0EA5E9 100%)', justifyContent: 'center', alignItems: 'center' }}&gt;&#10;            &lt;Text style={{ fontSize: 22, color: '#FFFFFF', fontWeight: 'bold', fontFamily: 'Inter, sans-serif' }}&gt;1&lt;/Text&gt;&#10;          &lt;/Box&gt;&#10;          &lt;Box style={{ flex: 1 }}&gt;&#10;            &lt;Text style={{ fontSize: 22, color: '#1E293B', fontWeight: 'bold', marginBottom: 4 }}&gt;运营安全为什么重&lt;/Text&gt;&#10;            &lt;Text style={{ fontSize: 16, color: '#475569', lineHeight: 1.5 }}&gt;千万级客流的城市基础设施，通信信号运行安全直接关系市民出行与城市运行。&lt;/Text&gt;&#10;          &lt;/Box&gt;&#10;        &lt;/Box&gt;&#10;        &lt;Box style={{ flexDirection: 'row', alignItems: 'center', gap: 18 }}&gt;&#10;          &lt;Box style={{ width: 44, height: 44, borderRadius: 22, background: 'linear-gradient(135deg,#2563EB 0%,#0EA5E9 100%)', justifyContent: 'center', alignItems: 'center' }}&gt;&#10;            &lt;Text style={{ fontSize: 22, color: '#FFFFFF', fontWeight: 'bold', fontFamily: 'Inter, sans-serif' }}&gt;2&lt;/Text&gt;&#10;          &lt;/Box&gt;&#10;          &lt;Box style={{ flex: 1 }}&gt;&#10;            &lt;Text style={{ fontSize: 22, color: '#1E293B', fontWeight: 'bold', marginBottom: 4 }}&gt;我们对安全的重视&lt;/Text&gt;&#10;            &lt;Text style={{ fontSize: 16, color: '#475569', lineHeight: 1.5 }}&gt;安全评估、安全月、运营安全大概念，安全理念贯穿系统规划到退役全过程。&lt;/Text&gt;&#10;          &lt;/Box&gt;&#10;        &lt;/Box&gt;&#10;        &lt;Box style={{ flexDirection: 'row', alignItems: 'center', gap: 18 }}&gt;&#10;          &lt;Box style={{ width: 44, height: 44, borderRadius: 22, background: 'linear-gradient(135deg,#2563EB 0%,#0EA5E9 100%)', justifyContent: 'center', alignItems: 'center' }}&gt;&#10;            &lt;Text style={{ fontSize: 22, color: '#FFFFFF', fontWeight: 'bold', fontFamily: 'Inter, sans-serif' }}&gt;3&lt;/Text&gt;&#10;          &lt;/Box&gt;&#10;          &lt;Box style={{ flex: 1 }}&gt;&#10;            &lt;Text style={{ fontSize: 22, color: '#1E293B', fontWeight: 'bold', marginBottom: 4 }}&gt;四环节怎么守&lt;/Text&gt;&#10;            &lt;Text style={{ fontSize: 16, color: '#475569', lineHeight: 1.5 }}&gt;规划设计、建设执行、运维保障、全生命周期，四个环节环环相扣、缺一不可。&lt;/Text&gt;&#10;          &lt;/Box&gt;&#10;        &lt;/Box&gt;&#10;        &lt;Box style={{ flexDirection: 'row', alignItems: 'center', gap: 18 }}&gt;&#10;          &lt;Box style={{ width: 44, height: 44, borderRadius: 22, background: 'linear-gradient(135deg,#2563EB 0%,#0EA5E9 100%)', justifyContent: 'center', alignItems: 'center' }}&gt;&#10;            &lt;Text style={{ fontSize: 22, color: '#FFFFFF', fontWeight: 'bold', fontFamily: 'Inter, sans-serif' }}&gt;4&lt;/Text&gt;&#10;          &lt;/Box&gt;&#10;          &lt;Box style={{ flex: 1 }}&gt;&#10;            &lt;Text style={{ fontSize: 22, color: '#1E293B', fontWeight: 'bold', marginBottom: 4 }}&gt;15 年长期共建&lt;/Text&gt;&#10;            &lt;Text style={{ fontSize: 16, color: '#475569', lineHeight: 1.5 }}&gt;华为作为战略合作伙伴，在每一环节的关键作用与可深化的合作点。&lt;/Text&gt;&#10;          &lt;/Box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2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23431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AGENDA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交流结构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71500" y="2600325"/>
            <a:ext cx="2857500" cy="12573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1E293B"/>
                </a:solidFill>
                <a:latin typeface="Source Han Sans SC"/>
                <a:ea typeface="Source Han Sans SC"/>
              </a:rPr>
              <a:t>今天</a:t>
            </a:r>
            <a:endParaRPr/>
          </a:p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1E293B"/>
                </a:solidFill>
                <a:latin typeface="Source Han Sans SC"/>
                <a:ea typeface="Source Han Sans SC"/>
              </a:rPr>
              <a:t>聊什么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71500" y="4029075"/>
            <a:ext cx="4572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3886200" y="18478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029075" y="1933575"/>
            <a:ext cx="142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476750" y="1771650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运营安全为什么重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476750" y="2066925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千万级客流的城市基础设施，通信信号运行安全直接关系市民出行与城市运行。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886200" y="26098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029075" y="2695575"/>
            <a:ext cx="142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476750" y="2533650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我们对安全的重视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476750" y="2828925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安全评估、安全月、运营安全大概念，安全理念贯穿系统规划到退役全过程。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86200" y="33718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029075" y="3457575"/>
            <a:ext cx="142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476750" y="3295650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四环节怎么守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476750" y="3590925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规划设计、建设执行、运维保障、全生命周期，四个环节环环相扣、缺一不可。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886200" y="41338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029075" y="4219575"/>
            <a:ext cx="142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76750" y="4057650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Source Han Sans SC"/>
                <a:ea typeface="Source Han Sans SC"/>
              </a:rPr>
              <a:t>15 </a:t>
            </a: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年长期共建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476750" y="4352925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华为作为战略合作伙伴，在每一环节的关键作用与可深化的合作点。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1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WHY IT MATTERS · 运营安全的分量&lt;/Text&gt;&#10;      &lt;Text style={{ fontSize: 34, color: '#1E293B', fontWeight: 'bold' }}&gt;上海地铁，已是一座城市的民生基础设施&lt;/Text&gt;&#10;    &lt;/Box&gt;&#10;    &lt;Box style={{ flex: 1, flexDirection: 'row', gap: 44, alignItems: 'center' }}&gt;&#10;      &lt;Box style={{ width: 540, justifyContent: 'center', alignItems: 'flex-start' }}&gt;&#10;        &lt;Text style={{ fontSize: 120, color: '#F97316', fontWeight: 'bold', fontFamily: 'Inter, sans-serif', lineHeight: 1 }}&gt;78%&lt;/Text&gt;&#10;        &lt;Text style={{ fontSize: 22, color: '#1E293B', fontWeight: 'bold', marginTop: 8 }}&gt;全市公共交通客运量分担率（接近八成）&lt;/Text&gt;&#10;        &lt;Text style={{ fontSize: 15, color: '#64748B', marginTop: 4 }}&gt;来源《2025 上海综合交通发展报告》&lt;/Text&gt;&#10;      &lt;/Box&gt;&#10;      &lt;Box style={{ flex: 1, flexDirection: 'column', gap: 18 }}&gt;&#10;        &lt;Box style={{ flexDirection: 'row', alignItems: 'baseline', gap: 4 }}&gt;&#10;          &lt;Text style={{ fontSize: 60, color: '#2563EB', fontWeight: 'bold', fontFamily: 'Inter, sans-serif' }}&gt;1016&lt;/Text&gt;&#10;          &lt;Text style={{ fontSize: 30, color: '#2563EB', fontWeight: 'bold', fontFamily: 'Inter, sans-serif' }}&gt;万&lt;/Text&gt;&#10;        &lt;/Box&gt;&#10;        &lt;Text style={{ fontSize: 18, color: '#1E293B' }}&gt;全年日均客运量（单日最高突破 1300 万）&lt;/Text&gt;&#10;        &lt;Box style={{ marginTop: 6, padding: '16px 20px', background: 'rgba(37,99,235,0.06)', borderLeft: '4px solid #2563EB', borderRadius: 6 }}&gt;&#10;          &lt;Text style={{ fontSize: 17, color: '#1E293B', lineHeight: 1.6 }}&gt;城市早高峰秩序、商务区活力、机场火车站接驳都依赖地铁——&lt;span style={{ color: '#F97316', fontWeight: 'bold' }}&gt;运营安全是每天千万级的托付，不是口号。&lt;/span&gt;&lt;/Text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3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WHY IT MATTERS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运营安全的分量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上海地铁，已是一座城市的民生基础设施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2628900"/>
            <a:ext cx="28289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97316"/>
                </a:solidFill>
                <a:latin typeface="Inter"/>
                <a:ea typeface="Inter"/>
              </a:rPr>
              <a:t>78%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4076700"/>
            <a:ext cx="3771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全市公共交通客运量分担率（接近八成）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71500" y="43719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来源《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2025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上海综合交通发展报告》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134100" y="2466975"/>
            <a:ext cx="145732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2563EB"/>
                </a:solidFill>
                <a:latin typeface="Inter"/>
                <a:ea typeface="Inter"/>
              </a:rPr>
              <a:t>1016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29525" y="2466975"/>
            <a:ext cx="285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563EB"/>
                </a:solidFill>
                <a:latin typeface="Inter"/>
                <a:ea typeface="Inter"/>
              </a:rPr>
              <a:t>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134100" y="3324225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Source Han Sans SC"/>
                <a:ea typeface="Source Han Sans SC"/>
              </a:rPr>
              <a:t>全年日均客运量（单日最高突破</a:t>
            </a:r>
            <a:r>
              <a:rPr lang="en-US" sz="1350">
                <a:solidFill>
                  <a:srgbClr val="1E293B"/>
                </a:solidFill>
                <a:latin typeface="Source Han Sans SC"/>
                <a:ea typeface="Source Han Sans SC"/>
              </a:rPr>
              <a:t> 1300 </a:t>
            </a:r>
            <a:r>
              <a:rPr lang="zh-CN" sz="1350">
                <a:solidFill>
                  <a:srgbClr val="1E293B"/>
                </a:solidFill>
                <a:latin typeface="Source Han Sans SC"/>
                <a:ea typeface="Source Han Sans SC"/>
              </a:rPr>
              <a:t>万）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172200" y="3762375"/>
            <a:ext cx="5486400" cy="933450"/>
          </a:xfrm>
          <a:prstGeom prst="roundRect">
            <a:avLst>
              <a:gd name="adj" fmla="val 6122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172200" y="3762375"/>
            <a:ext cx="5486400" cy="933450"/>
          </a:xfrm>
          <a:custGeom>
            <a:pathLst>
              <a:path w="576" h="9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96"/>
                </a:lnTo>
                <a:cubicBezTo>
                  <a:pt x="4" y="97"/>
                  <a:pt x="5" y="98"/>
                  <a:pt x="6" y="98"/>
                </a:cubicBezTo>
                <a:cubicBezTo>
                  <a:pt x="3" y="98"/>
                  <a:pt x="0" y="95"/>
                  <a:pt x="0" y="9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362700" y="3914775"/>
            <a:ext cx="5067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E293B"/>
                </a:solidFill>
                <a:latin typeface="Source Han Sans SC"/>
                <a:ea typeface="Source Han Sans SC"/>
              </a:rPr>
              <a:t>城市早高峰秩序、商务区活力、机场火车站接驳都依赖地铁——</a:t>
            </a:r>
            <a:r>
              <a:rPr lang="zh-CN" sz="1275" b="1">
                <a:solidFill>
                  <a:srgbClr val="F97316"/>
                </a:solidFill>
                <a:latin typeface="Source Han Sans SC"/>
                <a:ea typeface="Source Han Sans SC"/>
              </a:rPr>
              <a:t>运营安全是每天千万级的托付，不是口号。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7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REAL CASE · 真实发生过&lt;/Text&gt;&#10;      &lt;Text style={{ fontSize: 34, color: '#1E293B', fontWeight: 'bold' }}&gt;真实发生过的：车地无线被干扰&lt;/Text&gt;&#10;    &lt;/Box&gt;&#10;    &lt;Box style={{ flex: 1, flexDirection: 'row', gap: 36, alignItems: 'center' }}&gt;&#10;      &lt;Box style={{ width: 600, height: '100%', borderRadius: 10, overflow: 'hidden' }}&gt;&#10;        &lt;Image src=&quot;assets/case_tunnel.png&quot; style={{ width: '100%', height: '100%', objectFit: 'cover' }} /&gt;&#10;      &lt;/Box&gt;&#10;      &lt;Box style={{ flex: 1, flexDirection: 'column', justifyContent: 'center', gap: 14 }}&gt;&#10;        &lt;Text style={{ fontSize: 18, color: '#475569', lineHeight: 1.6 }}&gt;多条线路先后发生车地无线通信被干扰，列车与地面的实时数据传输中断，被迫降级运行。&lt;/Text&gt;&#10;        &lt;Box style={{ padding: '14px 18px', background: 'linear-gradient(135deg, rgba(37,99,235,0.08) 0%, rgba(14,165,233,0.08) 100%)', borderLeft: '4px solid #2563EB', borderRadius: 6 }}&gt;&#10;          &lt;Text style={{ fontSize: 16, color: '#1E293B', fontWeight: 'bold', marginBottom: 6 }}&gt;以 11 号线某次为例&lt;/Text&gt;&#10;          &lt;Text style={{ fontSize: 15, color: '#475569', lineHeight: 1.7 }}&gt;3 车站、29 区段运营受扰 · 45 列车模式丢失&lt;/Text&gt;&#10;          &lt;Text style={{ fontSize: 15, color: '#475569', lineHeight: 1.7 }}&gt;运能由 6 分钟间隔拉到 13 分钟 · 影响近 7 小时&lt;/Text&gt;&#10;          &lt;Text style={{ fontSize: 15, color: '#475569', lineHeight: 1.7 }}&gt;影响市民出行 12.7 万人次&lt;/Text&gt;&#10;        &lt;/Box&gt;&#10;        &lt;Text style={{ fontSize: 17, color: '#1E293B', lineHeight: 1.6 }}&gt;运营安全直接关联城市运行，这一环不能出错——也决定了我们对合作伙伴的标准只能更高。&lt;/Text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4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REAL CASE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真实发生过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真实发生过的：车地无线被干扰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952500"/>
            <a:ext cx="5715000" cy="5257800"/>
          </a:xfrm>
          <a:prstGeom prst="roundRect">
            <a:avLst>
              <a:gd name="adj" fmla="val 1812"/>
            </a:avLst>
          </a:prstGeom>
          <a:ln/>
        </p:spPr>
        <p:txBody>
          <a:bodyPr/>
          <a:p/>
        </p:txBody>
      </p:sp>
      <p:pic>
        <p:nvPicPr>
          <p:cNvPr id="82" name=""/>
          <p:cNvPicPr>
            <a:picLocks noChangeAspect="1"/>
          </p:cNvPicPr>
          <p:nvPr/>
        </p:nvPicPr>
        <p:blipFill>
          <a:blip r:embed="rId1"/>
          <a:srcRect l="13768" t="0" r="13768" b="0"/>
          <a:stretch>
            <a:fillRect/>
          </a:stretch>
        </p:blipFill>
        <p:spPr>
          <a:xfrm rot="0" flipH="0" flipV="0">
            <a:off x="571500" y="952500"/>
            <a:ext cx="5715000" cy="5257800"/>
          </a:xfrm>
          <a:custGeom>
            <a:pathLst>
              <a:path w="600" h="552">
                <a:moveTo>
                  <a:pt x="590" y="0"/>
                </a:moveTo>
                <a:cubicBezTo>
                  <a:pt x="596" y="0"/>
                  <a:pt x="600" y="5"/>
                  <a:pt x="600" y="10"/>
                </a:cubicBezTo>
                <a:lnTo>
                  <a:pt x="600" y="542"/>
                </a:lnTo>
                <a:cubicBezTo>
                  <a:pt x="600" y="548"/>
                  <a:pt x="596" y="552"/>
                  <a:pt x="590" y="552"/>
                </a:cubicBezTo>
                <a:lnTo>
                  <a:pt x="10" y="552"/>
                </a:lnTo>
                <a:cubicBezTo>
                  <a:pt x="4" y="552"/>
                  <a:pt x="0" y="548"/>
                  <a:pt x="0" y="54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629400" y="2105025"/>
            <a:ext cx="4991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Source Han Sans SC"/>
                <a:ea typeface="Source Han Sans SC"/>
              </a:rPr>
              <a:t>多条线路先后发生车地无线通信被干扰，列车与地面的实时数据传输中断，被迫降级运行。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667500" y="2905125"/>
            <a:ext cx="4991100" cy="1400175"/>
          </a:xfrm>
          <a:prstGeom prst="roundRect">
            <a:avLst>
              <a:gd name="adj" fmla="val 4082"/>
            </a:avLst>
          </a:prstGeom>
          <a:gradFill>
            <a:gsLst>
              <a:gs pos="0">
                <a:srgbClr val="2563EB">
                  <a:alpha val="8000"/>
                </a:srgbClr>
              </a:gs>
              <a:gs pos="100000">
                <a:srgbClr val="0EA5E9">
                  <a:alpha val="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667500" y="2905125"/>
            <a:ext cx="4991100" cy="1400175"/>
          </a:xfrm>
          <a:custGeom>
            <a:pathLst>
              <a:path w="524" h="14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45"/>
                </a:lnTo>
                <a:cubicBezTo>
                  <a:pt x="4" y="146"/>
                  <a:pt x="5" y="147"/>
                  <a:pt x="6" y="147"/>
                </a:cubicBezTo>
                <a:cubicBezTo>
                  <a:pt x="3" y="147"/>
                  <a:pt x="0" y="144"/>
                  <a:pt x="0" y="1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838950" y="303847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Source Han Sans SC"/>
                <a:ea typeface="Source Han Sans SC"/>
              </a:rPr>
              <a:t>以</a:t>
            </a:r>
            <a:r>
              <a:rPr lang="en-US" sz="1200" b="1">
                <a:solidFill>
                  <a:srgbClr val="1E293B"/>
                </a:solidFill>
                <a:latin typeface="Source Han Sans SC"/>
                <a:ea typeface="Source Han Sans SC"/>
              </a:rPr>
              <a:t> 11 </a:t>
            </a:r>
            <a:r>
              <a:rPr lang="zh-CN" sz="1200" b="1">
                <a:solidFill>
                  <a:srgbClr val="1E293B"/>
                </a:solidFill>
                <a:latin typeface="Source Han Sans SC"/>
                <a:ea typeface="Source Han Sans SC"/>
              </a:rPr>
              <a:t>号线某次为例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838950" y="3286125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3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车站、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29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区段运营受扰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· 45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列车模式丢失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838950" y="3581400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运能由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6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分钟间隔拉到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13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分钟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影响近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7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小时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838950" y="3876675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影响市民出行</a:t>
            </a:r>
            <a:r>
              <a:rPr lang="en-US" sz="1125">
                <a:solidFill>
                  <a:srgbClr val="475569"/>
                </a:solidFill>
                <a:latin typeface="Source Han Sans SC"/>
                <a:ea typeface="Source Han Sans SC"/>
              </a:rPr>
              <a:t> 12.7 </a:t>
            </a:r>
            <a:r>
              <a:rPr lang="zh-CN" sz="1125">
                <a:solidFill>
                  <a:srgbClr val="475569"/>
                </a:solidFill>
                <a:latin typeface="Source Han Sans SC"/>
                <a:ea typeface="Source Han Sans SC"/>
              </a:rPr>
              <a:t>万人次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629400" y="4438650"/>
            <a:ext cx="4991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E293B"/>
                </a:solidFill>
                <a:latin typeface="Source Han Sans SC"/>
                <a:ea typeface="Source Han Sans SC"/>
              </a:rPr>
              <a:t>运营安全直接关联城市运行，这一环不能出错——也决定了我们对合作伙伴的标准只能更高。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OUR SAFETY CULTURE · 我们对安全的重视&lt;/Text&gt;&#10;      &lt;Text style={{ fontSize: 34, color: '#1E293B', fontWeight: 'bold' }}&gt;安全贯穿系统全过程，不是建成那天安全就行&lt;/Text&gt;&#10;    &lt;/Box&gt;&#10;    &lt;Box style={{ flex: 1, flexDirection: 'row', gap: 36, alignItems: 'stretch' }}&gt;&#10;      &lt;Box style={{ width: 280, justifyContent: 'center', background: 'linear-gradient(135deg,#2563EB 0%,#0EA5E9 100%)', borderRadius: 12, padding: '0 28px' }}&gt;&#10;        &lt;Text style={{ fontSize: 46, color: '#FFFFFF', fontWeight: 'bold', lineHeight: 1.2 }}&gt;安全&lt;br /&gt;是底线&lt;/Text&gt;&#10;        &lt;Box style={{ width: 48, height: 4, background: '#F97316', marginTop: 18, marginBottom: 18 }} /&gt;&#10;        &lt;Text style={{ fontSize: 18, color: 'rgba(255,255,255,0.9)', lineHeight: 1.5 }}&gt;也是每个人脑子里，每天绷着的那根弦。&lt;/Text&gt;&#10;      &lt;/Box&gt;&#10;      &lt;Box style={{ flex: 1, flexDirection: 'column', justifyContent: 'center', gap: 16 }}&gt;&#10;        &lt;Box style={{ flexDirection: 'row', alignItems: 'center', gap: 16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1&lt;/Text&gt;&#10;          &lt;/Box&gt;&#10;          &lt;Box style={{ flex: 1 }}&gt;&#10;            &lt;Text style={{ fontSize: 21, color: '#1E293B', fontWeight: 'bold', marginBottom: 3 }}&gt;每年安全评估&lt;/Text&gt;&#10;            &lt;Text style={{ fontSize: 16, color: '#475569', lineHeight: 1.5 }}&gt;对通信信号系统运行状态、风险隐患、薄弱环节全面体检，形成报告、逐项整改闭环。&lt;/Text&gt;&#10;          &lt;/Box&gt;&#10;        &lt;/Box&gt;&#10;        &lt;Box style={{ flexDirection: 'row', alignItems: 'center', gap: 16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2&lt;/Text&gt;&#10;          &lt;/Box&gt;&#10;          &lt;Box style={{ flex: 1 }}&gt;&#10;            &lt;Text style={{ fontSize: 21, color: '#1E293B', fontWeight: 'bold', marginBottom: 3 }}&gt;每年 6 月安全月&lt;/Text&gt;&#10;            &lt;Text style={{ fontSize: 16, color: '#475569', lineHeight: 1.5 }}&gt;从管理层到一线，强化安全意识、排查隐患、演练应急场景，安全是脑子里那根弦。&lt;/Text&gt;&#10;          &lt;/Box&gt;&#10;        &lt;/Box&gt;&#10;        &lt;Box style={{ flexDirection: 'row', alignItems: 'center', gap: 16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3&lt;/Text&gt;&#10;          &lt;/Box&gt;&#10;          &lt;Box style={{ flex: 1 }}&gt;&#10;            &lt;Text style={{ fontSize: 21, color: '#1E293B', fontWeight: 'bold', marginBottom: 3 }}&gt;运营安全是大概念&lt;/Text&gt;&#10;            &lt;Text style={{ fontSize: 16, color: '#475569', lineHeight: 1.5 }}&gt;涵盖行车、设备、人员、网络、公共安全；通号主责守好通信信号系统运行安全。&lt;/Text&gt;&#10;          &lt;/Box&gt;&#10;        &lt;/Box&gt;&#10;        &lt;Box style={{ flexDirection: 'row', alignItems: 'center', gap: 16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4&lt;/Text&gt;&#10;          &lt;/Box&gt;&#10;          &lt;Box style={{ flex: 1 }}&gt;&#10;            &lt;Text style={{ fontSize: 21, color: '#1E293B', fontWeight: 'bold', marginBottom: 3 }}&gt;安全贯穿全过程&lt;/Text&gt;&#10;            &lt;Text style={{ fontSize: 16, color: '#475569', lineHeight: 1.5 }}&gt;从规划、建设、运维到退役，且关注 15 年自主可控——不是建成那天安全就行。&lt;/Text&gt;&#10;          &lt;/Box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5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OUR SAFETY CULTURE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我们对安全的重视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安全贯穿系统全过程，不是建成那天安全就行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71500" y="952500"/>
            <a:ext cx="2667000" cy="52578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8200" y="2447925"/>
            <a:ext cx="2133600" cy="1266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Source Han Sans SC"/>
                <a:ea typeface="Source Han Sans SC"/>
              </a:rPr>
              <a:t>安全</a:t>
            </a:r>
            <a:endParaRPr/>
          </a:p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Source Han Sans SC"/>
                <a:ea typeface="Source Han Sans SC"/>
              </a:rPr>
              <a:t>是底线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38200" y="3886200"/>
            <a:ext cx="4572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4095750"/>
            <a:ext cx="21336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也是每个人脑子里，每天绷着的那根弦。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581400" y="23336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714750" y="24098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14800" y="2247900"/>
            <a:ext cx="7505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Source Han Sans SC"/>
                <a:ea typeface="Source Han Sans SC"/>
              </a:rPr>
              <a:t>每年安全评估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114800" y="2524125"/>
            <a:ext cx="750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对通信信号系统运行状态、风险隐患、薄弱环节全面体检，形成报告、逐项整改闭环。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581400" y="30384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714750" y="3114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114800" y="2952750"/>
            <a:ext cx="7505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Source Han Sans SC"/>
                <a:ea typeface="Source Han Sans SC"/>
              </a:rPr>
              <a:t>每年</a:t>
            </a:r>
            <a:r>
              <a:rPr lang="en-US" sz="1575" b="1">
                <a:solidFill>
                  <a:srgbClr val="1E293B"/>
                </a:solidFill>
                <a:latin typeface="Source Han Sans SC"/>
                <a:ea typeface="Source Han Sans SC"/>
              </a:rPr>
              <a:t> 6 </a:t>
            </a:r>
            <a:r>
              <a:rPr lang="zh-CN" sz="1575" b="1">
                <a:solidFill>
                  <a:srgbClr val="1E293B"/>
                </a:solidFill>
                <a:latin typeface="Source Han Sans SC"/>
                <a:ea typeface="Source Han Sans SC"/>
              </a:rPr>
              <a:t>月安全月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114800" y="3228975"/>
            <a:ext cx="750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从管理层到一线，强化安全意识、排查隐患、演练应急场景，安全是脑子里那根弦。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581400" y="37433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714750" y="3819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114800" y="3657600"/>
            <a:ext cx="7505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Source Han Sans SC"/>
                <a:ea typeface="Source Han Sans SC"/>
              </a:rPr>
              <a:t>运营安全是大概念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114800" y="3933825"/>
            <a:ext cx="750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涵盖行车、设备、人员、网络、公共安全；通号主责守好通信信号系统运行安全。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581400" y="44481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714750" y="4524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114800" y="4362450"/>
            <a:ext cx="7505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Source Han Sans SC"/>
                <a:ea typeface="Source Han Sans SC"/>
              </a:rPr>
              <a:t>安全贯穿全过程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114800" y="4638675"/>
            <a:ext cx="750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从规划、建设、运维到退役，且关注</a:t>
            </a:r>
            <a:r>
              <a:rPr lang="en-US" sz="1200">
                <a:solidFill>
                  <a:srgbClr val="475569"/>
                </a:solidFill>
                <a:latin typeface="Source Han Sans SC"/>
                <a:ea typeface="Source Han Sans SC"/>
              </a:rPr>
              <a:t> 15 </a:t>
            </a: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年自主可控——不是建成那天安全就行。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1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FOUR STAGES · 系统安全&lt;/Text&gt;&#10;      &lt;Text style={{ fontSize: 34, color: '#1E293B', fontWeight: 'bold' }}&gt;系统安全的四环节：一条不能断的链&lt;/Text&gt;&#10;    &lt;/Box&gt;&#10;    &lt;Box style={{ flex: 1, flexDirection: 'row', gap: 40, alignItems: 'center' }}&gt;&#10;      &lt;Box style={{ width: 560, height: '100%', justifyContent: 'center', alignItems: 'center' }}&gt;&#10;        &lt;svg width='560' height='320' viewBox='0 0 560 320'&gt;&#10;          &lt;defs&gt;&#10;            &lt;marker id='arw' markerWidth='12' markerHeight='12' refX='9' refY='4' orient='auto'&gt;&#10;              &lt;path d='M0,0 L9,4 L0,8 Z' fill='#0EA5E9' /&gt;&#10;            &lt;/marker&gt;&#10;          &lt;/defs&gt;&#10;          &lt;line x1='122' y1='112' x2='148' y2='112' stroke='#0EA5E9' strokeWidth='3' marker-end='url(#arw)' /&gt;&#10;          &lt;line x1='252' y1='112' x2='278' y2='112' stroke='#0EA5E9' strokeWidth='3' marker-end='url(#arw)' /&gt;&#10;          &lt;line x1='382' y1='112' x2='408' y2='112' stroke='#0EA5E9' strokeWidth='3' marker-end='url(#arw)' /&gt;&#10;          &lt;rect x='20' y='70' width='100' height='84' rx='12' fill='#2563EB' /&gt;&#10;          &lt;text x='70' y='122' textAnchor='middle' fill='#FFFFFF' fontSize='30' fontWeight='bold' fontFamily='Inter, sans-serif'&gt;1&lt;/text&gt;&#10;          &lt;text x='70' y='182' textAnchor='middle' fill='#1E293B' fontSize='18' fontWeight='bold'&gt;规划设计&lt;/text&gt;&#10;          &lt;rect x='150' y='70' width='100' height='84' rx='12' fill='#2563EB' /&gt;&#10;          &lt;text x='200' y='122' textAnchor='middle' fill='#FFFFFF' fontSize='30' fontWeight='bold' fontFamily='Inter, sans-serif'&gt;2&lt;/text&gt;&#10;          &lt;text x='200' y='182' textAnchor='middle' fill='#1E293B' fontSize='18' fontWeight='bold'&gt;建设执行&lt;/text&gt;&#10;          &lt;rect x='280' y='70' width='100' height='84' rx='12' fill='#2563EB' /&gt;&#10;          &lt;text x='330' y='122' textAnchor='middle' fill='#FFFFFF' fontSize='30' fontWeight='bold' fontFamily='Inter, sans-serif'&gt;3&lt;/text&gt;&#10;          &lt;text x='330' y='182' textAnchor='middle' fill='#1E293B' fontSize='18' fontWeight='bold'&gt;运维保障&lt;/text&gt;&#10;          &lt;rect x='410' y='70' width='100' height='84' rx='12' fill='#0EA5E9' /&gt;&#10;          &lt;text x='460' y='122' textAnchor='middle' fill='#FFFFFF' fontSize='30' fontWeight='bold' fontFamily='Inter, sans-serif'&gt;4&lt;/text&gt;&#10;          &lt;text x='460' y='182' textAnchor='middle' fill='#1E293B' fontSize='18' fontWeight='bold'&gt;全生命周期&lt;/text&gt;&#10;          &lt;rect x='20' y='214' width='520' height='74' rx='10' fill='rgba(249,115,22,0.10)' stroke='#F97316' strokeWidth='1.5' /&gt;&#10;          &lt;text x='280' y='244' textAnchor='middle' fill='#1E293B' fontSize='16' fontWeight='bold'&gt;华为：战略合作伙伴，通信头部企业、主要设备系统供应商&lt;/text&gt;&#10;          &lt;text x='280' y='270' textAnchor='middle' fill='#475569' fontSize='15'&gt;在四环节均起关键作用——任一环节弱，整条链就松&lt;/text&gt;&#10;        &lt;/svg&gt;&#10;      &lt;/Box&gt;&#10;      &lt;Box style={{ flex: 1, flexDirection: 'column', justifyContent: 'center', gap: 14 }}&gt;&#10;        &lt;Text style={{ fontSize: 17, color: '#475569', lineHeight: 1.6 }}&gt;系统安全是一条链：规划设计把安全写进图纸，建设执行把它落地，运维保障长期守住，全生命周期兜住 15 年。&lt;/Text&gt;&#10;        &lt;Box style={{ flexDirection: 'row', gap: 10, alignItems: 'baseline' }}&gt;&#10;          &lt;Text style={{ fontSize: 17, color: '#2563EB', fontWeight: 'bold' }}&gt;规划设计&lt;/Text&gt;&#10;          &lt;Text style={{ fontSize: 16, color: '#475569' }}&gt;把 RAMS、冗余、接口边界落到设计文件&lt;/Text&gt;&#10;        &lt;/Box&gt;&#10;        &lt;Box style={{ flexDirection: 'row', gap: 10, alignItems: 'baseline' }}&gt;&#10;          &lt;Text style={{ fontSize: 17, color: '#2563EB', fontWeight: 'bold' }}&gt;建设执行&lt;/Text&gt;&#10;          &lt;Text style={{ fontSize: 16, color: '#475569' }}&gt;联合验收，联调从产品级升运营级&lt;/Text&gt;&#10;        &lt;/Box&gt;&#10;        &lt;Box style={{ flexDirection: 'row', gap: 10, alignItems: 'baseline' }}&gt;&#10;          &lt;Text style={{ fontSize: 17, color: '#2563EB', fontWeight: 'bold' }}&gt;运维保障&lt;/Text&gt;&#10;          &lt;Text style={{ fontSize: 16, color: '#475569' }}&gt;把经验产品化，能力建在我们自己身上&lt;/Text&gt;&#10;        &lt;/Box&gt;&#10;        &lt;Box style={{ flexDirection: 'row', gap: 10, alignItems: 'baseline' }}&gt;&#10;          &lt;Text style={{ fontSize: 17, color: '#2563EB', fontWeight: 'bold' }}&gt;全生命周期&lt;/Text&gt;&#10;          &lt;Text style={{ fontSize: 16, color: '#475569' }}&gt;备件可替代、版本可维护、技术不断档&lt;/Text&gt;&#10;        &lt;/Box&gt;&#10;        &lt;Text style={{ fontSize: 17, color: '#1E293B', fontWeight: 'bold', lineHeight: 1.6, marginTop: 4 }}&gt;华为在每一环都关键——安全要一起做深、做长。&lt;/Text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6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FOUR STAGES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系统安全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系统安全的四环节：一条不能断的链</a:t>
            </a:r>
            <a:endParaRPr/>
          </a:p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2057400"/>
            <a:ext cx="5334000" cy="30480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286500" y="2362200"/>
            <a:ext cx="5334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Source Han Sans SC"/>
                <a:ea typeface="Source Han Sans SC"/>
              </a:rPr>
              <a:t>系统安全是一条链：规划设计把安全写进图纸，建设执行把它落地，运维保障长期守住，全生命周期兜住</a:t>
            </a:r>
            <a:r>
              <a:rPr lang="en-US" sz="1275">
                <a:solidFill>
                  <a:srgbClr val="475569"/>
                </a:solidFill>
                <a:latin typeface="Source Han Sans SC"/>
                <a:ea typeface="Source Han Sans SC"/>
              </a:rPr>
              <a:t> 15 </a:t>
            </a:r>
            <a:r>
              <a:rPr lang="zh-CN" sz="1275">
                <a:solidFill>
                  <a:srgbClr val="475569"/>
                </a:solidFill>
                <a:latin typeface="Source Han Sans SC"/>
                <a:ea typeface="Source Han Sans SC"/>
              </a:rPr>
              <a:t>年。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286500" y="3124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SC"/>
                <a:ea typeface="Source Han Sans SC"/>
              </a:rPr>
              <a:t>规划设计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029450" y="3124200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把</a:t>
            </a:r>
            <a:r>
              <a:rPr lang="en-US" sz="1200">
                <a:solidFill>
                  <a:srgbClr val="475569"/>
                </a:solidFill>
                <a:latin typeface="Source Han Sans SC"/>
                <a:ea typeface="Source Han Sans SC"/>
              </a:rPr>
              <a:t> RAMS</a:t>
            </a: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、冗余、接口边界落到设计文件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286500" y="34575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SC"/>
                <a:ea typeface="Source Han Sans SC"/>
              </a:rPr>
              <a:t>建设执行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029450" y="3457575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联合验收，联调从产品级升运营级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286500" y="37909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SC"/>
                <a:ea typeface="Source Han Sans SC"/>
              </a:rPr>
              <a:t>运维保障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029450" y="37909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把经验产品化，能力建在我们自己身上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286500" y="4124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Source Han Sans SC"/>
                <a:ea typeface="Source Han Sans SC"/>
              </a:rPr>
              <a:t>全生命周期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191375" y="41243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备件可替代、版本可维护、技术不断档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286500" y="4495800"/>
            <a:ext cx="5334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1E293B"/>
                </a:solidFill>
                <a:latin typeface="Source Han Sans SC"/>
                <a:ea typeface="Source Han Sans SC"/>
              </a:rPr>
              <a:t>华为在每一环都关键——安全要一起做深、做长。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9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STAGE 1 · 规划设计&lt;/Text&gt;&#10;      &lt;Text style={{ fontSize: 34, color: '#1E293B', fontWeight: 'bold' }}&gt;规划设计：把安全写进第一张图纸&lt;/Text&gt;&#10;    &lt;/Box&gt;&#10;    &lt;Box style={{ flex: 1, flexDirection: 'row', gap: 36, alignItems: 'stretch' }}&gt;&#10;      &lt;Box style={{ width: 640, flexDirection: 'column', justifyContent: 'center', gap: 16 }}&gt;&#10;        &lt;Text style={{ fontSize: 22, color: '#1E293B', fontWeight: 'bold', lineHeight: 1.4 }}&gt;地铁场景长出的系统，不是通用货架能直接给的&lt;/Text&gt;&#10;        &lt;Box style={{ flexDirection: 'row', alignItems: 'center', gap: 12 }}&gt;&#10;          &lt;Box style={{ width: 8, height: 8, borderRadius: 4, background: '#2563EB' }} /&gt;&#10;          &lt;Text style={{ fontSize: 18, color: '#475569' }}&gt;高速移动下的连续切换&lt;/Text&gt;&#10;        &lt;/Box&gt;&#10;        &lt;Box style={{ flexDirection: 'row', alignItems: 'center', gap: 12 }}&gt;&#10;          &lt;Box style={{ width: 8, height: 8, borderRadius: 4, background: '#2563EB' }} /&gt;&#10;          &lt;Text style={{ fontSize: 18, color: '#475569' }}&gt;隧道环境的 EMC 与抗干扰&lt;/Text&gt;&#10;        &lt;/Box&gt;&#10;        &lt;Box style={{ flexDirection: 'row', alignItems: 'center', gap: 12 }}&gt;&#10;          &lt;Box style={{ width: 8, height: 8, borderRadius: 4, background: '#2563EB' }} /&gt;&#10;          &lt;Text style={{ fontSize: 18, color: '#475569' }}&gt;24×365 不间断冗余&lt;/Text&gt;&#10;        &lt;/Box&gt;&#10;        &lt;Box style={{ flexDirection: 'row', alignItems: 'center', gap: 12 }}&gt;&#10;          &lt;Box style={{ width: 8, height: 8, borderRadius: 4, background: '#2563EB' }} /&gt;&#10;          &lt;Text style={{ fontSize: 18, color: '#475569' }}&gt;与信号系统的深度耦合&lt;/Text&gt;&#10;        &lt;/Box&gt;&#10;        &lt;Box style={{ marginTop: 6, padding: '14px 18px', background: 'rgba(37,99,235,0.06)', borderLeft: '4px solid #2563EB', borderRadius: 6 }}&gt;&#10;          &lt;Text style={{ fontSize: 16, color: '#1E293B', lineHeight: 1.6 }}&gt;路网级规划已落地——建核心、做异地灾备，满足系统韧性要求；华为的支持作用，我们认可。&lt;/Text&gt;&#10;        &lt;/Box&gt;&#10;      &lt;/Box&gt;&#10;      &lt;Box style={{ width: 360, justifyContent: 'center', background: 'linear-gradient(135deg,#2563EB 0%,#0EA5E9 100%)', borderRadius: 12, padding: '0 30px' }}&gt;&#10;        &lt;Text style={{ fontSize: 16, color: 'rgba(255,255,255,0.85)', letterSpacing: 2 }}&gt;华为关键作用&lt;/Text&gt;&#10;        &lt;Text style={{ fontSize: 40, color: '#FFFFFF', fontWeight: 'bold', marginBottom: 14 }}&gt;共定方案&lt;/Text&gt;&#10;        &lt;Text style={{ fontSize: 17, color: 'rgba(255,255,255,0.92)', lineHeight: 1.6 }}&gt;把 RAMS、冗余、接口边界落到设计文件，而非事后整改。&lt;/Text&gt;&#10;        &lt;Box style={{ marginTop: 20, justifyContent: 'center', alignItems: 'center' }}&gt;&#10;          &lt;svg width='260' height='150' viewBox='0 0 260 150'&gt;&#10;            &lt;rect x='30' y='36' width='200' height='70' rx='12' fill='rgba(255,255,255,0.18)' /&gt;&#10;            &lt;text x='130' y='82' textAnchor='middle' fill='#FFFFFF' fontSize='30' fontWeight='bold' fontFamily='Inter, sans-serif'&gt;RAMS&lt;/text&gt;&#10;            &lt;text x='130' y='128' textAnchor='middle' fill='rgba(255,255,255,0.85)' fontSize='13'&gt;可靠性·可用性·可维修性·安全性&lt;/text&gt;&#10;          &lt;/svg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7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STAGE 1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规划设计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规划设计：把安全写进第一张图纸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71500" y="2152650"/>
            <a:ext cx="60960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293B"/>
                </a:solidFill>
                <a:latin typeface="Source Han Sans SC"/>
                <a:ea typeface="Source Han Sans SC"/>
              </a:rPr>
              <a:t>地铁场景长出的系统，不是通用货架能直接给的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27241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62000" y="26574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Source Han Sans SC"/>
                <a:ea typeface="Source Han Sans SC"/>
              </a:rPr>
              <a:t>高速移动下的连续切换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71500" y="3086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62000" y="3019425"/>
            <a:ext cx="2028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Source Han Sans SC"/>
                <a:ea typeface="Source Han Sans SC"/>
              </a:rPr>
              <a:t>隧道环境的</a:t>
            </a:r>
            <a:r>
              <a:rPr lang="en-US" sz="1350">
                <a:solidFill>
                  <a:srgbClr val="475569"/>
                </a:solidFill>
                <a:latin typeface="Source Han Sans SC"/>
                <a:ea typeface="Source Han Sans SC"/>
              </a:rPr>
              <a:t> EMC </a:t>
            </a:r>
            <a:r>
              <a:rPr lang="zh-CN" sz="1350">
                <a:solidFill>
                  <a:srgbClr val="475569"/>
                </a:solidFill>
                <a:latin typeface="Source Han Sans SC"/>
                <a:ea typeface="Source Han Sans SC"/>
              </a:rPr>
              <a:t>与抗干扰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71500" y="3448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62000" y="338137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75569"/>
                </a:solidFill>
                <a:latin typeface="Source Han Sans SC"/>
                <a:ea typeface="Source Han Sans SC"/>
              </a:rPr>
              <a:t>24×365 </a:t>
            </a:r>
            <a:r>
              <a:rPr lang="zh-CN" sz="1350">
                <a:solidFill>
                  <a:srgbClr val="475569"/>
                </a:solidFill>
                <a:latin typeface="Source Han Sans SC"/>
                <a:ea typeface="Source Han Sans SC"/>
              </a:rPr>
              <a:t>不间断冗余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71500" y="3810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62000" y="37433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Source Han Sans SC"/>
                <a:ea typeface="Source Han Sans SC"/>
              </a:rPr>
              <a:t>与信号系统的深度耦合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4162425"/>
            <a:ext cx="6096000" cy="857250"/>
          </a:xfrm>
          <a:prstGeom prst="roundRect">
            <a:avLst>
              <a:gd name="adj" fmla="val 6667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09600" y="4162425"/>
            <a:ext cx="6096000" cy="857250"/>
          </a:xfrm>
          <a:custGeom>
            <a:pathLst>
              <a:path w="640" h="9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8"/>
                </a:lnTo>
                <a:cubicBezTo>
                  <a:pt x="4" y="89"/>
                  <a:pt x="5" y="90"/>
                  <a:pt x="6" y="90"/>
                </a:cubicBezTo>
                <a:cubicBezTo>
                  <a:pt x="3" y="90"/>
                  <a:pt x="0" y="87"/>
                  <a:pt x="0" y="8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81050" y="4295775"/>
            <a:ext cx="5715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路网级规划已落地——建核心、做异地灾备，满足系统韧性要求；华为的支持作用，我们认可。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010400" y="952500"/>
            <a:ext cx="3429000" cy="52578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296150" y="20669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华为关键作用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296150" y="2257425"/>
            <a:ext cx="2857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共定方案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296150" y="2847975"/>
            <a:ext cx="2857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把</a:t>
            </a:r>
            <a:r>
              <a:rPr lang="en-US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RAMS</a:t>
            </a: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、冗余、接口边界落到设计文件，而非事后整改。</a:t>
            </a:r>
            <a:endParaRPr/>
          </a:p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86650" y="3667125"/>
            <a:ext cx="2476500" cy="1428750"/>
          </a:xfrm>
          <a:prstGeom prst="rect">
            <a:avLst/>
          </a:prstGeom>
          <a:ln/>
        </p:spPr>
      </p:pic>
      <p:sp>
        <p:nvSpPr>
          <p:cNvPr id="160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STAGE 2 · 建设执行&lt;/Text&gt;&#10;      &lt;Text style={{ fontSize: 34, color: '#1E293B', fontWeight: 'bold' }}&gt;建设执行：别让图纸停在 PPT 里&lt;/Text&gt;&#10;    &lt;/Box&gt;&#10;    &lt;Box style={{ flex: 1, flexDirection: 'row', gap: 36, alignItems: 'stretch' }}&gt;&#10;      &lt;Box style={{ width: 280, justifyContent: 'center', background: 'linear-gradient(135deg,#2563EB 0%,#0EA5E9 100%)', borderRadius: 12, padding: '0 28px' }}&gt;&#10;        &lt;Text style={{ fontSize: 46, color: '#FFFFFF', fontWeight: 'bold', lineHeight: 1.2 }}&gt;建设&lt;br /&gt;是转化&lt;/Text&gt;&#10;        &lt;Box style={{ width: 48, height: 4, background: '#F97316', marginTop: 18, marginBottom: 18 }} /&gt;&#10;        &lt;Text style={{ fontSize: 18, color: 'rgba(255,255,255,0.9)', lineHeight: 1.5 }}&gt;纸面设计能不能真落地，靠这最后一关。&lt;/Text&gt;&#10;      &lt;/Box&gt;&#10;      &lt;Box style={{ flex: 1, flexDirection: 'column', justifyContent: 'center', gap: 14 }}&gt;&#10;        &lt;Text style={{ fontSize: 18, color: '#475569', lineHeight: 1.5 }}&gt;设计走四道关，一道卡了，前面的努力都打折：&lt;/Text&gt;&#10;        &lt;Box style={{ flexDirection: 'row', gap: 14, alignItems: 'center'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1&lt;/Text&gt;&#10;          &lt;/Box&gt;&#10;          &lt;Box style={{ flex: 1 }}&gt;&#10;            &lt;Text style={{ fontSize: 20, color: '#1E293B', fontWeight: 'bold' }}&gt;工艺化转化&lt;/Text&gt;&#10;            &lt;Text style={{ fontSize: 15, color: '#64748B' }}&gt;方案 → 施工工艺与实施方案&lt;/Text&gt;&#10;          &lt;/Box&gt;&#10;        &lt;/Box&gt;&#10;        &lt;Box style={{ flexDirection: 'row', gap: 14, alignItems: 'center'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2&lt;/Text&gt;&#10;          &lt;/Box&gt;&#10;          &lt;Box style={{ flex: 1 }}&gt;&#10;            &lt;Text style={{ fontSize: 20, color: '#1E293B', fontWeight: 'bold' }}&gt;施工监理&lt;/Text&gt;&#10;            &lt;Text style={{ fontSize: 15, color: '#64748B' }}&gt;按图施工指导与关键工序把控&lt;/Text&gt;&#10;          &lt;/Box&gt;&#10;        &lt;/Box&gt;&#10;        &lt;Box style={{ flexDirection: 'row', gap: 14, alignItems: 'center'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3&lt;/Text&gt;&#10;          &lt;/Box&gt;&#10;          &lt;Box style={{ flex: 1 }}&gt;&#10;            &lt;Text style={{ fontSize: 20, color: '#1E293B', fontWeight: 'bold' }}&gt;质量把控&lt;/Text&gt;&#10;            &lt;Text style={{ fontSize: 15, color: '#64748B' }}&gt;关键节点联合验收&lt;/Text&gt;&#10;          &lt;/Box&gt;&#10;        &lt;/Box&gt;&#10;        &lt;Box style={{ flexDirection: 'row', gap: 14, alignItems: 'center' }}&gt;&#10;          &lt;Box style={{ width: 40, height: 40, borderRadius: 8, background: 'rgba(37,99,235,0.10)', justifyContent: 'center', alignItems: 'center' }}&gt;&#10;            &lt;Text style={{ fontSize: 20, color: '#2563EB', fontWeight: 'bold', fontFamily: 'Inter, sans-serif' }}&gt;4&lt;/Text&gt;&#10;          &lt;/Box&gt;&#10;          &lt;Box style={{ flex: 1 }}&gt;&#10;            &lt;Text style={{ fontSize: 20, color: '#1E293B', fontWeight: 'bold' }}&gt;联调联试&lt;/Text&gt;&#10;            &lt;Text style={{ fontSize: 15, color: '#64748B' }}&gt;联调从产品级升运营级&lt;/Text&gt;&#10;          &lt;/Box&gt;&#10;        &lt;/Box&gt;&#10;        &lt;Box style={{ marginTop: 4, padding: '12px 16px', background: 'rgba(249,115,22,0.08)', borderLeft: '4px solid #F97316', borderRadius: 6 }}&gt;&#10;          &lt;Text style={{ fontSize: 15, color: '#1E293B', lineHeight: 1.5 }}&gt;LTE 灾备&quot;设计有、落地不全&quot;——正与华为运维团队一起补全，把设计蓝图不走样落下去。&lt;/Text&gt;&#10;        &lt;/Box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8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STAGE 2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建设执行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建设执行：别让图纸停在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 PPT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里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71500" y="952500"/>
            <a:ext cx="2667000" cy="52578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38200" y="2447925"/>
            <a:ext cx="2133600" cy="1266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Source Han Sans SC"/>
                <a:ea typeface="Source Han Sans SC"/>
              </a:rPr>
              <a:t>建设</a:t>
            </a:r>
            <a:endParaRPr/>
          </a:p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Source Han Sans SC"/>
                <a:ea typeface="Source Han Sans SC"/>
              </a:rPr>
              <a:t>是转化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38200" y="3886200"/>
            <a:ext cx="4572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38200" y="4095750"/>
            <a:ext cx="21336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纸面设计能不能真落地，靠这最后一关。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581400" y="2028825"/>
            <a:ext cx="8039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Source Han Sans SC"/>
                <a:ea typeface="Source Han Sans SC"/>
              </a:rPr>
              <a:t>设计走四道关，一道卡了，前面的努力都打折：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3581400" y="24860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714750" y="2562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095750" y="2476500"/>
            <a:ext cx="752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工艺化转化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095750" y="2705100"/>
            <a:ext cx="752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方案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 →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施工工艺与实施方案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581400" y="30194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714750" y="30956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095750" y="3009900"/>
            <a:ext cx="752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施工监理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095750" y="3238500"/>
            <a:ext cx="752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按图施工指导与关键工序把控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3581400" y="35528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714750" y="36290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095750" y="3543300"/>
            <a:ext cx="752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质量把控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095750" y="3771900"/>
            <a:ext cx="752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关键节点联合验收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581400" y="40862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714750" y="41624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095750" y="4076700"/>
            <a:ext cx="752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Source Han Sans SC"/>
                <a:ea typeface="Source Han Sans SC"/>
              </a:rPr>
              <a:t>联调联试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095750" y="4305300"/>
            <a:ext cx="752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联调从产品级升运营级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3619500" y="4648200"/>
            <a:ext cx="8039100" cy="485775"/>
          </a:xfrm>
          <a:prstGeom prst="roundRect">
            <a:avLst>
              <a:gd name="adj" fmla="val 11765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3619500" y="4648200"/>
            <a:ext cx="8039100" cy="485775"/>
          </a:xfrm>
          <a:custGeom>
            <a:pathLst>
              <a:path w="844" h="51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9"/>
                </a:lnTo>
                <a:cubicBezTo>
                  <a:pt x="4" y="50"/>
                  <a:pt x="5" y="51"/>
                  <a:pt x="6" y="51"/>
                </a:cubicBezTo>
                <a:cubicBezTo>
                  <a:pt x="3" y="51"/>
                  <a:pt x="0" y="48"/>
                  <a:pt x="0" y="4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771900" y="4762500"/>
            <a:ext cx="769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1E293B"/>
                </a:solidFill>
                <a:latin typeface="Source Han Sans SC"/>
                <a:ea typeface="Source Han Sans SC"/>
              </a:rPr>
              <a:t>LTE </a:t>
            </a:r>
            <a:r>
              <a:rPr lang="zh-CN" sz="1125">
                <a:solidFill>
                  <a:srgbClr val="1E293B"/>
                </a:solidFill>
                <a:latin typeface="Source Han Sans SC"/>
                <a:ea typeface="Source Han Sans SC"/>
              </a:rPr>
              <a:t>灾备</a:t>
            </a:r>
            <a:r>
              <a:rPr lang="en-US" sz="1125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1E293B"/>
                </a:solidFill>
                <a:latin typeface="Source Han Sans SC"/>
                <a:ea typeface="Source Han Sans SC"/>
              </a:rPr>
              <a:t>设计有、落地不全</a:t>
            </a:r>
            <a:r>
              <a:rPr lang="en-US" sz="1125">
                <a:solidFill>
                  <a:srgbClr val="1E293B"/>
                </a:solidFill>
                <a:latin typeface="Source Han Sans SC"/>
                <a:ea typeface="Source Han Sans SC"/>
              </a:rPr>
              <a:t>"——</a:t>
            </a:r>
            <a:r>
              <a:rPr lang="zh-CN" sz="1125">
                <a:solidFill>
                  <a:srgbClr val="1E293B"/>
                </a:solidFill>
                <a:latin typeface="Source Han Sans SC"/>
                <a:ea typeface="Source Han Sans SC"/>
              </a:rPr>
              <a:t>正与华为运维团队一起补全，把设计蓝图不走样落下去。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4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STAGE 3 · 运维保障&lt;/Text&gt;&#10;      &lt;Text style={{ fontSize: 34, color: '#1E293B', fontWeight: 'bold' }}&gt;运维保障：把&quot;经验&quot;变成&quot;能力&quot;&lt;/Text&gt;&#10;    &lt;/Box&gt;&#10;    &lt;Box style={{ flex: 1, flexDirection: 'row', gap: 36, alignItems: 'stretch' }}&gt;&#10;      &lt;Box style={{ width: 640, flexDirection: 'column', justifyContent: 'center', gap: 14 }}&gt;&#10;        &lt;Box style={{ flexDirection: 'column', gap: 12 }}&gt;&#10;          &lt;Box style={{ flexDirection: 'row', gap: 12 }}&gt;&#10;            &lt;Box style={{ flex: 1, flexDirection: 'row', gap: 12, alignItems: 'center', background: '#F8FAFC', border: '1px solid #E5E7EB', borderRadius: 10, padding: '14px 16px' }}&gt;&#10;              &lt;Box style={{ width: 42, height: 42, borderRadius: 10, background: 'linear-gradient(135deg,#2563EB,#0EA5E9)', justifyContent: 'center', alignItems: 'center' }}&gt;&#10;                &lt;Text style={{ fontSize: 18, color: '#FFFFFF', fontWeight: 'bold' }}&gt;感&lt;/Text&gt;&#10;              &lt;/Box&gt;&#10;              &lt;Box style={{ flex: 1 }}&gt;&#10;                &lt;Text style={{ fontSize: 19, color: '#1E293B', fontWeight: 'bold' }}&gt;感知&lt;/Text&gt;&#10;                &lt;Text style={{ fontSize: 14, color: '#64748B' }}&gt;充分理解与掌握系统状态&lt;/Text&gt;&#10;              &lt;/Box&gt;&#10;            &lt;/Box&gt;&#10;            &lt;Box style={{ flex: 1, flexDirection: 'row', gap: 12, alignItems: 'center', background: '#F8FAFC', border: '1px solid #E5E7EB', borderRadius: 10, padding: '14px 16px' }}&gt;&#10;              &lt;Box style={{ width: 42, height: 42, borderRadius: 10, background: 'linear-gradient(135deg,#2563EB,#0EA5E9)', justifyContent: 'center', alignItems: 'center' }}&gt;&#10;                &lt;Text style={{ fontSize: 18, color: '#FFFFFF', fontWeight: 'bold' }}&gt;预&lt;/Text&gt;&#10;              &lt;/Box&gt;&#10;              &lt;Box style={{ flex: 1 }}&gt;&#10;                &lt;Text style={{ fontSize: 19, color: '#1E293B', fontWeight: 'bold' }}&gt;预警&lt;/Text&gt;&#10;                &lt;Text style={{ fontSize: 14, color: '#64748B' }}&gt;风险早识别、早提示&lt;/Text&gt;&#10;              &lt;/Box&gt;&#10;            &lt;/Box&gt;&#10;          &lt;/Box&gt;&#10;          &lt;Box style={{ flexDirection: 'row', gap: 12 }}&gt;&#10;            &lt;Box style={{ flex: 1, flexDirection: 'row', gap: 12, alignItems: 'center', background: '#F8FAFC', border: '1px solid #E5E7EB', borderRadius: 10, padding: '14px 16px' }}&gt;&#10;              &lt;Box style={{ width: 42, height: 42, borderRadius: 10, background: 'linear-gradient(135deg,#2563EB,#0EA5E9)', justifyContent: 'center', alignItems: 'center' }}&gt;&#10;                &lt;Text style={{ fontSize: 18, color: '#FFFFFF', fontWeight: 'bold' }}&gt;定&lt;/Text&gt;&#10;              &lt;/Box&gt;&#10;              &lt;Box style={{ flex: 1 }}&gt;&#10;                &lt;Text style={{ fontSize: 19, color: '#1E293B', fontWeight: 'bold' }}&gt;定位&lt;/Text&gt;&#10;                &lt;Text style={{ fontSize: 14, color: '#64748B' }}&gt;故障精准定位&lt;/Text&gt;&#10;              &lt;/Box&gt;&#10;            &lt;/Box&gt;&#10;            &lt;Box style={{ flex: 1, flexDirection: 'row', gap: 12, alignItems: 'center', background: '#F8FAFC', border: '1px solid #E5E7EB', borderRadius: 10, padding: '14px 16px' }}&gt;&#10;              &lt;Box style={{ width: 42, height: 42, borderRadius: 10, background: 'linear-gradient(135deg,#2563EB,#0EA5E9)', justifyContent: 'center', alignItems: 'center' }}&gt;&#10;                &lt;Text style={{ fontSize: 18, color: '#FFFFFF', fontWeight: 'bold' }}&gt;操&lt;/Text&gt;&#10;              &lt;/Box&gt;&#10;              &lt;Box style={{ flex: 1 }}&gt;&#10;                &lt;Text style={{ fontSize: 19, color: '#1E293B', fontWeight: 'bold' }}&gt;操作&lt;/Text&gt;&#10;                &lt;Text style={{ fontSize: 14, color: '#64748B' }}&gt;快速恢复业务&lt;/Text&gt;&#10;              &lt;/Box&gt;&#10;            &lt;/Box&gt;&#10;          &lt;/Box&gt;&#10;        &lt;/Box&gt;&#10;        &lt;Box style={{ padding: '14px 18px', background: 'rgba(37,99,235,0.06)', borderLeft: '4px solid #2563EB', borderRadius: 6 }}&gt;&#10;          &lt;Text style={{ fontSize: 16, color: '#1E293B', lineHeight: 1.6 }}&gt;无线环境智能监测系统：同类事件处置从小时级压至最快 0.5 小时，&lt;span style={{ color: '#F97316', fontWeight: 'bold' }}&gt;效率提升一个数量级&lt;/span&gt;。&lt;/Text&gt;&#10;        &lt;/Box&gt;&#10;      &lt;/Box&gt;&#10;      &lt;Box style={{ width: 360, justifyContent: 'center', background: 'linear-gradient(135deg,#2563EB 0%,#0EA5E9 100%)', borderRadius: 12, padding: '0 30px' }}&gt;&#10;        &lt;Text style={{ fontSize: 16, color: 'rgba(255,255,255,0.85)', letterSpacing: 2 }}&gt;华为关键作用&lt;/Text&gt;&#10;        &lt;Text style={{ fontSize: 36, color: '#FFFFFF', fontWeight: 'bold', marginBottom: 14 }}&gt;把经验产品化&lt;/Text&gt;&#10;        &lt;Text style={{ fontSize: 17, color: 'rgba(255,255,255,0.92)', lineHeight: 1.6 }}&gt;联合开发监测工具、培训演练精准——把一次性的经验，沉淀为可复制的能力。&lt;/Text&gt;&#10;        &lt;Box style={{ width: 48, height: 4, background: '#F97316', marginVertical: 18 }} /&gt;&#10;        &lt;Text style={{ fontSize: 17, color: 'rgba(255,255,255,0.92)', lineHeight: 1.6 }}&gt;我们和华为共同探索的协作运维模式，还可以进一步深化，找最佳平衡点。&lt;/Text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09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STAGE 3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运维保障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运维保障：把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经验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变成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能力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71500" y="2362200"/>
            <a:ext cx="2990850" cy="6667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723900" y="2495550"/>
            <a:ext cx="400050" cy="400050"/>
          </a:xfrm>
          <a:prstGeom prst="roundRect">
            <a:avLst>
              <a:gd name="adj" fmla="val 2381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38200" y="25908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感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238250" y="250507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Source Han Sans SC"/>
                <a:ea typeface="Source Han Sans SC"/>
              </a:rPr>
              <a:t>感知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238250" y="27241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充分理解与掌握系统状态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3676650" y="2362200"/>
            <a:ext cx="2990850" cy="6667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3829050" y="2495550"/>
            <a:ext cx="400050" cy="400050"/>
          </a:xfrm>
          <a:prstGeom prst="roundRect">
            <a:avLst>
              <a:gd name="adj" fmla="val 2381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943350" y="25908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预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343400" y="250507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Source Han Sans SC"/>
                <a:ea typeface="Source Han Sans SC"/>
              </a:rPr>
              <a:t>预警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343400" y="272415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风险早识别、早提示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3143250"/>
            <a:ext cx="2990850" cy="6667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23900" y="3276600"/>
            <a:ext cx="400050" cy="400050"/>
          </a:xfrm>
          <a:prstGeom prst="roundRect">
            <a:avLst>
              <a:gd name="adj" fmla="val 2381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33718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定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238250" y="328612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Source Han Sans SC"/>
                <a:ea typeface="Source Han Sans SC"/>
              </a:rPr>
              <a:t>定位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238250" y="350520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故障精准定位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3676650" y="3143250"/>
            <a:ext cx="2990850" cy="6667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3829050" y="3276600"/>
            <a:ext cx="400050" cy="400050"/>
          </a:xfrm>
          <a:prstGeom prst="roundRect">
            <a:avLst>
              <a:gd name="adj" fmla="val 2381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943350" y="33718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操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343400" y="328612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Source Han Sans SC"/>
                <a:ea typeface="Source Han Sans SC"/>
              </a:rPr>
              <a:t>操作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343400" y="3505200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快速恢复业务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3943350"/>
            <a:ext cx="6096000" cy="857250"/>
          </a:xfrm>
          <a:prstGeom prst="roundRect">
            <a:avLst>
              <a:gd name="adj" fmla="val 6667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609600" y="3943350"/>
            <a:ext cx="6096000" cy="857250"/>
          </a:xfrm>
          <a:custGeom>
            <a:pathLst>
              <a:path w="640" h="9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8"/>
                </a:lnTo>
                <a:cubicBezTo>
                  <a:pt x="4" y="89"/>
                  <a:pt x="5" y="90"/>
                  <a:pt x="6" y="90"/>
                </a:cubicBezTo>
                <a:cubicBezTo>
                  <a:pt x="3" y="90"/>
                  <a:pt x="0" y="87"/>
                  <a:pt x="0" y="8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81050" y="4076700"/>
            <a:ext cx="5715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无线环境智能监测系统：同类事件处置从小时级压至最快</a:t>
            </a:r>
            <a:r>
              <a:rPr lang="en-US" sz="1200">
                <a:solidFill>
                  <a:srgbClr val="1E293B"/>
                </a:solidFill>
                <a:latin typeface="Source Han Sans SC"/>
                <a:ea typeface="Source Han Sans SC"/>
              </a:rPr>
              <a:t> 0.5 </a:t>
            </a: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小时，</a:t>
            </a:r>
            <a:r>
              <a:rPr lang="zh-CN" sz="1200" b="1">
                <a:solidFill>
                  <a:srgbClr val="F97316"/>
                </a:solidFill>
                <a:latin typeface="Source Han Sans SC"/>
                <a:ea typeface="Source Han Sans SC"/>
              </a:rPr>
              <a:t>效率提升一个数量级</a:t>
            </a: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010400" y="952500"/>
            <a:ext cx="3429000" cy="52578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296150" y="24098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华为关键作用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296150" y="2600325"/>
            <a:ext cx="2857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FFFFF"/>
                </a:solidFill>
                <a:latin typeface="Source Han Sans SC"/>
                <a:ea typeface="Source Han Sans SC"/>
              </a:rPr>
              <a:t>把经验产品化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296150" y="3152775"/>
            <a:ext cx="2857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联合开发监测工具、培训演练精准——把一次性的经验，沉淀为可复制的能力。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7296150" y="4086225"/>
            <a:ext cx="4572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296150" y="4124325"/>
            <a:ext cx="2857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我们和华为共同探索的协作运维模式，还可以进一步深化，找最佳平衡点。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" name="" descr="&lt;Slide style={{ width: '1280px', height: '720px', padding: '20px 60px', background: '#FFFFFF', fontFamily: &quot;'Source Han Sans SC', 'PingFang SC', 'Microsoft YaHei', sans-serif&quot; }}&gt;&#10;  &lt;Box style={{ flexDirection: 'column', height: '100%' }}&gt;&#10;    &lt;Box style={{ height: 80 }}&gt;&#10;      &lt;Text style={{ fontSize: 14, color: '#2563EB', fontWeight: 'bold', letterSpacing: 4, marginBottom: 6 }}&gt;STAGE 4 · 全生命周期&lt;/Text&gt;&#10;      &lt;Text style={{ fontSize: 34, color: '#1E293B', fontWeight: 'bold' }}&gt;全生命周期：15 年的承诺，谁来兜底&lt;/Text&gt;&#10;    &lt;/Box&gt;&#10;    &lt;Box style={{ flex: 1, flexDirection: 'row', gap: 40, alignItems: 'center' }}&gt;&#10;      &lt;Box style={{ width: 560, height: '100%', justifyContent: 'center', alignItems: 'center' }}&gt;&#10;        &lt;svg width='560' height='320' viewBox='0 0 560 320'&gt;&#10;          &lt;text x='40' y='64' fill='#1E293B' fontSize='18' fontWeight='bold'&gt;运营周期 · 0–15 年&lt;/text&gt;&#10;          &lt;line x1='40' y1='150' x2='500' y2='150' stroke='#2563EB' strokeWidth='4' /&gt;&#10;          &lt;circle cx='40' cy='150' r='7' fill='#2563EB' /&gt;&#10;          &lt;circle cx='500' cy='150' r='7' fill='#2563EB' /&gt;&#10;          &lt;text x='40' y='178' textAnchor='middle' fill='#64748B' fontSize='14'&gt;投运&lt;/text&gt;&#10;          &lt;text x='193' y='178' textAnchor='middle' fill='#64748B' fontSize='14'&gt;5 年&lt;/text&gt;&#10;          &lt;text x='347' y='178' textAnchor='middle' fill='#64748B' fontSize='14'&gt;10 年&lt;/text&gt;&#10;          &lt;text x='500' y='178' textAnchor='middle' fill='#64748B' fontSize='14'&gt;15 年&lt;/text&gt;&#10;          &lt;rect x='347' y='120' width='153' height='60' rx='6' fill='rgba(249,115,22,0.18)' stroke='#F97316' strokeWidth='1.5' /&gt;&#10;          &lt;text x='423' y='142' textAnchor='middle' fill='#F97316' fontSize='14' fontWeight='bold'&gt;政策空白期&lt;/text&gt;&#10;          &lt;text x='423' y='164' textAnchor='middle' fill='#F97316' fontSize='13'&gt;停产停服风险&lt;/text&gt;&#10;          &lt;line x1='40' y1='232' x2='500' y2='232' stroke='#CBD5E1' strokeWidth='2' strokeDasharray='4 4' /&gt;&#10;          &lt;text x='40' y='258' fill='#64748B' fontSize='13'&gt;产品周期 3–5 年（约 3–5 代迭代）&lt;/text&gt;&#10;          &lt;text x='500' y='258' textAnchor='end' fill='#1E293B' fontSize='15' fontWeight='bold'&gt;设备在役即停产&lt;/text&gt;&#10;        &lt;/svg&gt;&#10;      &lt;/Box&gt;&#10;      &lt;Box style={{ flex: 1, flexDirection: 'column', justifyContent: 'center', gap: 14 }}&gt;&#10;        &lt;Text style={{ fontSize: 17, color: '#475569', lineHeight: 1.6 }}&gt;华为生命周期管理规范（&lt;span style={{ color: '#2563EB', fontWeight: 'bold' }}&gt;EOM / EOFS / EOS&lt;/span&gt; 公开化）获认可——但通用政策约撑到第 10 年，第 10–15 年是空白期。&lt;/Text&gt;&#10;        &lt;Box style={{ padding: '12px 16px', background: 'rgba(249,115,22,0.08)', borderLeft: '4px solid #F97316', borderRadius: 6 }}&gt;&#10;          &lt;Text style={{ fontSize: 16, color: '#1E293B', lineHeight: 1.5 }}&gt;前车之鉴：14 / 15 / 18 号线&quot;二次开发各自为政&quot;，后期停产停服即丧失可维护性。&lt;/Text&gt;&#10;        &lt;/Box&gt;&#10;        &lt;Text style={{ fontSize: 17, color: '#1E293B', fontWeight: 'bold', lineHeight: 1.6 }}&gt;责任刻度是运营周期，不是产品周期。&lt;/Text&gt;&#10;        &lt;Text style={{ fontSize: 16, color: '#475569', lineHeight: 1.6 }}&gt;希望华为在供货选型时充分考虑生命周期，停产后给替代方案——让系统 15 年始终可控。&lt;/Text&gt;&#10;      &lt;/Box&gt;&#10;    &lt;/Box&gt;&#10;    &lt;Box style={{ height: 48, flexDirection: 'row', justifyContent: 'space-between', alignItems: 'center', borderTop: '1px solid #E5E7EB' }}&gt;&#10;      &lt;Text style={{ fontSize: 13, color: '#94A3B8' }}&gt;上海地铁通号 × 华为 · 安全交流&lt;/Text&gt;&#10;      &lt;Text style={{ fontSize: 13, color: '#94A3B8' }}&gt;10 / 11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STAGE 4 · </a:t>
            </a:r>
            <a:r>
              <a:rPr lang="zh-CN" sz="1050" b="1" spc="300">
                <a:solidFill>
                  <a:srgbClr val="2563EB"/>
                </a:solidFill>
                <a:latin typeface="Source Han Sans SC"/>
                <a:ea typeface="Source Han Sans SC"/>
              </a:rPr>
              <a:t>全生命周期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0957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全生命周期：</a:t>
            </a:r>
            <a:r>
              <a:rPr lang="en-US" sz="2550" b="1">
                <a:solidFill>
                  <a:srgbClr val="1E293B"/>
                </a:solidFill>
                <a:latin typeface="Source Han Sans SC"/>
                <a:ea typeface="Source Han Sans SC"/>
              </a:rPr>
              <a:t>15 </a:t>
            </a:r>
            <a:r>
              <a:rPr lang="zh-CN" sz="2550" b="1">
                <a:solidFill>
                  <a:srgbClr val="1E293B"/>
                </a:solidFill>
                <a:latin typeface="Source Han Sans SC"/>
                <a:ea typeface="Source Han Sans SC"/>
              </a:rPr>
              <a:t>年的承诺，谁来兜底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2057400"/>
            <a:ext cx="5334000" cy="3048000"/>
          </a:xfrm>
          <a:prstGeom prst="rect">
            <a:avLst/>
          </a:prstGeom>
          <a:ln/>
        </p:spPr>
      </p:pic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286500" y="2228850"/>
            <a:ext cx="5334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Source Han Sans SC"/>
                <a:ea typeface="Source Han Sans SC"/>
              </a:rPr>
              <a:t>华为生命周期管理规范（</a:t>
            </a:r>
            <a:r>
              <a:rPr lang="en-US" sz="1275" b="1">
                <a:solidFill>
                  <a:srgbClr val="2563EB"/>
                </a:solidFill>
                <a:latin typeface="Source Han Sans SC"/>
                <a:ea typeface="Source Han Sans SC"/>
              </a:rPr>
              <a:t>EOM / EOFS / EOS</a:t>
            </a:r>
            <a:r>
              <a:rPr lang="en-US" sz="1275">
                <a:solidFill>
                  <a:srgbClr val="475569"/>
                </a:solidFill>
                <a:latin typeface="Source Han Sans SC"/>
                <a:ea typeface="Source Han Sans SC"/>
              </a:rPr>
              <a:t> </a:t>
            </a:r>
            <a:r>
              <a:rPr lang="zh-CN" sz="1275">
                <a:solidFill>
                  <a:srgbClr val="475569"/>
                </a:solidFill>
                <a:latin typeface="Source Han Sans SC"/>
                <a:ea typeface="Source Han Sans SC"/>
              </a:rPr>
              <a:t>公开化）获认可——但通用政策约撑到第</a:t>
            </a:r>
            <a:r>
              <a:rPr lang="en-US" sz="1275">
                <a:solidFill>
                  <a:srgbClr val="475569"/>
                </a:solidFill>
                <a:latin typeface="Source Han Sans SC"/>
                <a:ea typeface="Source Han Sans SC"/>
              </a:rPr>
              <a:t> 10 </a:t>
            </a:r>
            <a:r>
              <a:rPr lang="zh-CN" sz="1275">
                <a:solidFill>
                  <a:srgbClr val="475569"/>
                </a:solidFill>
                <a:latin typeface="Source Han Sans SC"/>
                <a:ea typeface="Source Han Sans SC"/>
              </a:rPr>
              <a:t>年，第</a:t>
            </a:r>
            <a:r>
              <a:rPr lang="en-US" sz="1275">
                <a:solidFill>
                  <a:srgbClr val="475569"/>
                </a:solidFill>
                <a:latin typeface="Source Han Sans SC"/>
                <a:ea typeface="Source Han Sans SC"/>
              </a:rPr>
              <a:t> 10–15 </a:t>
            </a:r>
            <a:r>
              <a:rPr lang="zh-CN" sz="1275">
                <a:solidFill>
                  <a:srgbClr val="475569"/>
                </a:solidFill>
                <a:latin typeface="Source Han Sans SC"/>
                <a:ea typeface="Source Han Sans SC"/>
              </a:rPr>
              <a:t>年是空白期。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324600" y="2990850"/>
            <a:ext cx="5334000" cy="781050"/>
          </a:xfrm>
          <a:prstGeom prst="roundRect">
            <a:avLst>
              <a:gd name="adj" fmla="val 7317"/>
            </a:avLst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6324600" y="2990850"/>
            <a:ext cx="5334000" cy="781050"/>
          </a:xfrm>
          <a:custGeom>
            <a:pathLst>
              <a:path w="560" h="82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0"/>
                </a:lnTo>
                <a:cubicBezTo>
                  <a:pt x="4" y="81"/>
                  <a:pt x="5" y="82"/>
                  <a:pt x="6" y="82"/>
                </a:cubicBezTo>
                <a:cubicBezTo>
                  <a:pt x="3" y="82"/>
                  <a:pt x="0" y="79"/>
                  <a:pt x="0" y="7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77000" y="3105150"/>
            <a:ext cx="4991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前车之鉴：</a:t>
            </a:r>
            <a:r>
              <a:rPr lang="en-US" sz="1200">
                <a:solidFill>
                  <a:srgbClr val="1E293B"/>
                </a:solidFill>
                <a:latin typeface="Source Han Sans SC"/>
                <a:ea typeface="Source Han Sans SC"/>
              </a:rPr>
              <a:t>14 / 15 / 18 </a:t>
            </a: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号线</a:t>
            </a:r>
            <a:r>
              <a:rPr lang="en-US" sz="1200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二次开发各自为政</a:t>
            </a:r>
            <a:r>
              <a:rPr lang="en-US" sz="1200">
                <a:solidFill>
                  <a:srgbClr val="1E293B"/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1E293B"/>
                </a:solidFill>
                <a:latin typeface="Source Han Sans SC"/>
                <a:ea typeface="Source Han Sans SC"/>
              </a:rPr>
              <a:t>，后期停产停服即丧失可维护性。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286500" y="3905250"/>
            <a:ext cx="5334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1E293B"/>
                </a:solidFill>
                <a:latin typeface="Source Han Sans SC"/>
                <a:ea typeface="Source Han Sans SC"/>
              </a:rPr>
              <a:t>责任刻度是运营周期，不是产品周期。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286500" y="4352925"/>
            <a:ext cx="5334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希望华为在供货选型时充分考虑生命周期，停产后给替代方案——让系统</a:t>
            </a:r>
            <a:r>
              <a:rPr lang="en-US" sz="1200">
                <a:solidFill>
                  <a:srgbClr val="475569"/>
                </a:solidFill>
                <a:latin typeface="Source Han Sans SC"/>
                <a:ea typeface="Source Han Sans SC"/>
              </a:rPr>
              <a:t> 15 </a:t>
            </a:r>
            <a:r>
              <a:rPr lang="zh-CN" sz="1200">
                <a:solidFill>
                  <a:srgbClr val="475569"/>
                </a:solidFill>
                <a:latin typeface="Source Han Sans SC"/>
                <a:ea typeface="Source Han Sans SC"/>
              </a:rPr>
              <a:t>年始终可控。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71500" y="6210300"/>
            <a:ext cx="11049000" cy="457200"/>
          </a:xfrm>
          <a:custGeom>
            <a:pathLst>
              <a:path w="1160" h="48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71500" y="637222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上海地铁通号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华为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安全交流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201400" y="63722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6" name="" descr="&lt;Slide style={{ width: '1280px', height: '720px', padding: 0, background: '#0F2A5E', fontFamily: &quot;'Source Han Sans SC', 'PingFang SC', 'Microsoft YaHei', sans-serif&quot; }}&gt;&#10;  &lt;Image src=&quot;assets/cover_metro.png&quot; style={{ position: 'absolute', top: 0, left: 0, width: '100%', height: '100%', objectFit: 'cover' }} /&gt;&#10;  &lt;Box style={{ position: 'absolute', top: 0, left: 0, width: '100%', height: '100%', background: 'linear-gradient(135deg, rgba(15,42,94,0.92) 0%, rgba(15,42,94,0.78) 100%)' }} /&gt;&#10;  &lt;Box style={{ position: 'absolute', top: 0, left: 0, width: '100%', height: '100%', flexDirection: 'column', justifyContent: 'center', alignItems: 'center', padding: '0 120px' }}&gt;&#10;    &lt;Text style={{ fontSize: 18, color: '#0EA5E9', fontWeight: 'bold', letterSpacing: 6, marginBottom: 26 }}&gt;THANK YOU · 安全共建&lt;/Text&gt;&#10;    &lt;Text style={{ fontSize: 52, color: '#FFFFFF', fontWeight: 'bold', lineHeight: 1.3, textAlign: 'center' }}&gt;把下一个十年，交给能陪跑 15 年的伙伴&lt;/Text&gt;&#10;    &lt;Box style={{ width: 64, height: 4, background: '#F97316', marginVertical: 28 }} /&gt;&#10;    &lt;Text style={{ fontSize: 26, color: 'rgba(255,255,255,0.92)', lineHeight: 1.6, textAlign: 'center' }}&gt;今天安全，明年安全，15 年后的每一天都安全。&lt;/Text&gt;&#10;    &lt;Text style={{ fontSize: 19, color: 'rgba(255,255,255,0.7)', lineHeight: 1.6, textAlign: 'center', marginTop: 18 }}&gt;这既是上海地铁对市民的承诺，也是希望和华为一起守住的底线。&lt;/Text&gt;&#10;    &lt;Text style={{ fontSize: 18, color: 'rgba(255,255,255,0.85)', marginTop: 40 }}&gt;上海地铁维保通号分公司 · 谢谢&lt;/Text&gt;&#10;  &lt;/Box&gt;&#10;  &lt;Text style={{ position: 'absolute', bottom: 24, right: 60, fontSize: 14, color: 'rgba(255,255,255,0.7)' }}&gt;11 / 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2A5E"/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5E">
                  <a:alpha val="92000"/>
                </a:srgbClr>
              </a:gs>
              <a:gs pos="100000">
                <a:srgbClr val="0F2A5E">
                  <a:alpha val="7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667250" y="200025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0EA5E9"/>
                </a:solidFill>
                <a:latin typeface="Source Han Sans SC"/>
                <a:ea typeface="Source Han Sans SC"/>
              </a:rPr>
              <a:t>THANK YOU · </a:t>
            </a:r>
            <a:r>
              <a:rPr lang="zh-CN" sz="1350" b="1" spc="450">
                <a:solidFill>
                  <a:srgbClr val="0EA5E9"/>
                </a:solidFill>
                <a:latin typeface="Source Han Sans SC"/>
                <a:ea typeface="Source Han Sans SC"/>
              </a:rPr>
              <a:t>安全共建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676400" y="2457450"/>
            <a:ext cx="88392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把下一个十年，交给能陪跑</a:t>
            </a:r>
            <a:r>
              <a:rPr lang="en-US" sz="3900" b="1">
                <a:solidFill>
                  <a:srgbClr val="FFFFFF"/>
                </a:solidFill>
                <a:latin typeface="Source Han Sans SC"/>
                <a:ea typeface="Source Han Sans SC"/>
              </a:rPr>
              <a:t> 15 </a:t>
            </a: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年的伙伴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91200" y="3238500"/>
            <a:ext cx="6096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438525" y="3276600"/>
            <a:ext cx="532447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9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今天安全，明年安全，</a:t>
            </a:r>
            <a:r>
              <a:rPr lang="en-US" sz="19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15 </a:t>
            </a:r>
            <a:r>
              <a:rPr lang="zh-CN" sz="195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年后的每一天都安全。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476625" y="3924300"/>
            <a:ext cx="5248275" cy="3524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这既是上海地铁对市民的承诺，也是希望和华为一起守住的底线。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914900" y="465772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上海地铁维保通号分公司</a:t>
            </a:r>
            <a:r>
              <a:rPr lang="en-US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谢谢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163300" y="6467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2026-09-11T14:22:45Z</dcterms:created>
  <dcterms:modified xsi:type="dcterms:W3CDTF">2026-09-11T14:22:45Z</dcterms:modified>
</cp:coreProperties>
</file>