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13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'1280px', height: '720px', padding: 0, background: '#0F2A5E', fontFamily: &quot;'Source Han Sans SC', 'PingFang SC', 'Microsoft YaHei', sans-serif&quot; }}&gt;&#10;  &lt;Image src=&quot;assets/cover_metro.png&quot; style={{ position: 'absolute', top: 0, left: 0, width: '100%', height: '100%', objectFit: 'cover' }} /&gt;&#10;  &lt;Box style={{ position: 'absolute', top: 0, left: 0, width: '100%', height: '100%', background: 'linear-gradient(90deg, rgba(15,42,94,0.88) 0%, rgba(15,42,94,0.55) 40%, rgba(15,42,94,0.15) 75%, transparent 100%)' }} /&gt;&#10;  &lt;Box style={{ position: 'absolute', top: 0, left: 0, width: '720px', height: '100%', flexDirection: 'column', justifyContent: 'center', padding: '0 80px' }}&gt;&#10;    &lt;Text style={{ fontSize: 20, color: '#0EA5E9', fontWeight: 'bold', letterSpacing: 6, marginBottom: 28 }}&gt;SHANGHAI METRO × HUAWEI · 安全交流&lt;/Text&gt;&#10;    &lt;Text style={{ fontSize: 64, color: '#FFFFFF', fontWeight: 'bold', lineHeight: 1.2, marginBottom: 28 }}&gt;&#10;      &lt;span style={{ color: '#0EA5E9' }}&gt;面向华为&lt;/span&gt;的安全交流&#10;    &lt;/Text&gt;&#10;    &lt;Text style={{ fontSize: 30, color: 'rgba(255,255,255,0.92)', fontWeight: 'normal', lineHeight: 1.4, marginBottom: 44 }}&gt;把运营安全，交给能陪跑 15 年的伙伴&lt;/Text&gt;&#10;    &lt;Box style={{ width: 56, height: 4, background: '#F97316', marginBottom: 24 }} /&gt;&#10;    &lt;Text style={{ fontSize: 18, color: 'rgba(255,255,255,0.78)' }}&gt;上海地铁维保通号分公司 · 分管通信专业&lt;/Text&gt;&#10;    &lt;Text style={{ fontSize: 16, color: 'rgba(255,255,255,0.55)', marginTop: 8 }}&gt;2026 年 9 月&lt;/Text&gt;&#10;  &lt;/Box&gt;&#10;  &lt;Text style={{ position: 'absolute', bottom: 24, right: 60, fontSize: 14, color: 'rgba(255,255,255,0.7)' }}&gt;01 / 1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A5E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88000"/>
                </a:srgbClr>
              </a:gs>
              <a:gs pos="40000">
                <a:srgbClr val="0F2A5E">
                  <a:alpha val="55000"/>
                </a:srgbClr>
              </a:gs>
              <a:gs pos="75000">
                <a:srgbClr val="0F2A5E">
                  <a:alpha val="1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1228725"/>
            <a:ext cx="53340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 spc="450">
                <a:solidFill>
                  <a:srgbClr val="0EA5E9"/>
                </a:solidFill>
                <a:latin typeface="Source Han Sans SC"/>
                <a:ea typeface="Source Han Sans SC"/>
              </a:rPr>
              <a:t>SHANGHAI METRO × HUAWEI · </a:t>
            </a:r>
            <a:r>
              <a:rPr lang="zh-CN" sz="1500" b="1" spc="450">
                <a:solidFill>
                  <a:srgbClr val="0EA5E9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53340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EA5E9"/>
                </a:solidFill>
                <a:latin typeface="Source Han Sans SC"/>
                <a:ea typeface="Source Han Sans SC"/>
              </a:rPr>
              <a:t>面向华为</a:t>
            </a: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的安全交流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981450"/>
            <a:ext cx="53340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把运营安全，交给能陪跑</a:t>
            </a:r>
            <a:r>
              <a:rPr lang="en-US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15 </a:t>
            </a:r>
            <a:r>
              <a:rPr lang="zh-CN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年的伙伴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886325"/>
            <a:ext cx="5334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上海地铁维保通号分公司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分管通信专业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54387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2026 </a:t>
            </a:r>
            <a:r>
              <a:rPr lang="zh-CN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 9 </a:t>
            </a:r>
            <a:r>
              <a:rPr lang="zh-CN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月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1633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01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, justifyContent: 'center' }}&gt;&#10;      &lt;Text style={{ fontSize: 14, color: '#2563EB', fontWeight: 'bold', letterSpacing: 4, marginBottom: 6 }}&gt;CATALOG · 交流结构&lt;/Text&gt;&#10;      &lt;Text style={{ fontSize: 34, color: '#1E293B', fontWeight: 'bold' }}&gt;今天聊什么&lt;/Text&gt;&#10;    &lt;/Box&gt;&#10;    &lt;Box style={{ flex: 1, flexDirection: 'row', gap: 36, paddingTop: 8, paddingBottom: 8 }}&gt;&#10;      &lt;Box style={{ width: 340, background: 'linear-gradient(135deg, #2563EB 0%, #0EA5E9 100%)', borderRadius: 16, padding: 36, flexDirection: 'column', justifyContent: 'space-between' }}&gt;&#10;        &lt;Box&gt;&#10;          &lt;Text style={{ fontSize: 40, color: '#FFFFFF', fontWeight: 'bold', lineHeight: 1.2 }}&gt;交流&#10;            &lt;br /&gt;结构&#10;          &lt;/Text&gt;&#10;          &lt;Text style={{ fontSize: 14, color: 'rgba(255,255,255,0.8)', letterSpacing: 6, marginTop: 16 }}&gt;FOUR POINTS&lt;/Text&gt;&#10;        &lt;/Box&gt;&#10;        &lt;Box style={{ width: 48, height: 4, background: '#F97316' }} /&gt;&#10;      &lt;/Box&gt;&#10;      &lt;Box style={{ flex: 1, flexDirection: 'column', justifyContent: 'space-between', gap: 14 }}&gt;&#10;        &lt;Box style={{ flexDirection: 'row', gap: 18, alignItems: 'flex-start' }}&gt;&#10;          &lt;Text style={{ fontSize: 32, color: '#2563EB', fontWeight: 'bold', width: 52 }}&gt;01&lt;/Text&gt;&#10;          &lt;Box style={{ flex: 1 }}&gt;&#10;            &lt;Text style={{ fontSize: 20, color: '#1E293B', fontWeight: 'bold', marginBottom: 6 }}&gt;运营安全的分量&lt;/Text&gt;&#10;            &lt;Text style={{ fontSize: 15, color: '#64748B', lineHeight: 1.6 }}&gt;78% 公交分担率、日均 1016 万客流、9/11 号线真实案例 —— 托付不在口号，在每天的千万次出行。&lt;/Text&gt;&#10;          &lt;/Box&gt;&#10;        &lt;/Box&gt;&#10;        &lt;Box style={{ flexDirection: 'row', gap: 18, alignItems: 'flex-start' }}&gt;&#10;          &lt;Text style={{ fontSize: 32, color: '#2563EB', fontWeight: 'bold', width: 52 }}&gt;02&lt;/Text&gt;&#10;          &lt;Box style={{ flex: 1 }}&gt;&#10;            &lt;Text style={{ fontSize: 20, color: '#1E293B', fontWeight: 'bold', marginBottom: 6 }}&gt;系统安全四大支柱&lt;/Text&gt;&#10;            &lt;Text style={{ fontSize: 15, color: '#64748B', lineHeight: 1.6 }}&gt;A 方案设计 / B 建设执行 / C 维护保障 / D 全生命周期自主可控 —— 四个齿轮，缺一不可。&lt;/Text&gt;&#10;          &lt;/Box&gt;&#10;        &lt;/Box&gt;&#10;        &lt;Box style={{ flexDirection: 'row', gap: 18, alignItems: 'flex-start' }}&gt;&#10;          &lt;Text style={{ fontSize: 32, color: '#2563EB', fontWeight: 'bold', width: 52 }}&gt;03&lt;/Text&gt;&#10;          &lt;Box style={{ flex: 1 }}&gt;&#10;            &lt;Text style={{ fontSize: 20, color: '#1E293B', fontWeight: 'bold', marginBottom: 6 }}&gt;华为在四支柱的关键作用&lt;/Text&gt;&#10;            &lt;Text style={{ fontSize: 15, color: '#64748B', lineHeight: 1.6 }}&gt;共定方案、施工督导、能力产品化、15 年兜底 —— 战略合作伙伴，ABCD 全面深耕。&lt;/Text&gt;&#10;          &lt;/Box&gt;&#10;        &lt;/Box&gt;&#10;        &lt;Box style={{ flexDirection: 'row', gap: 18, alignItems: 'flex-start' }}&gt;&#10;          &lt;Text style={{ fontSize: 32, color: '#2563EB', fontWeight: 'bold', width: 52 }}&gt;04&lt;/Text&gt;&#10;          &lt;Box style={{ flex: 1 }}&gt;&#10;            &lt;Text style={{ fontSize: 20, color: '#1E293B', fontWeight: 'bold', marginBottom: 6 }}&gt;全生命周期的 15 年承诺&lt;/Text&gt;&#10;            &lt;Text style={{ fontSize: 15, color: '#64748B', lineHeight: 1.6 }}&gt;洞察规划、工程支撑、应急维稳、长期延续 —— 四点拼起 0–15 年的支撑。&lt;/Text&gt;&#10;          &lt;/Box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2 / 1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CATALOG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交流结构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4857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今天聊什么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71500" y="1028700"/>
            <a:ext cx="3238500" cy="510540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14400" y="1371600"/>
            <a:ext cx="2552700" cy="1104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交流</a:t>
            </a:r>
            <a:endParaRPr/>
          </a:p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结构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14400" y="262890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FOUR POINTS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914400" y="5753100"/>
            <a:ext cx="4572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52900" y="1028700"/>
            <a:ext cx="495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819650" y="102870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运营安全的分量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819650" y="1314450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78%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公交分担率、日均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1016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万客流、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9/11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号线真实案例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托付不在口号，在每天的千万次出行。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152900" y="2543175"/>
            <a:ext cx="495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819650" y="2543175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系统安全四大支柱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819650" y="28289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A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方案设计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/ B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建设执行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/ C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维护保障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/ D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全生命周期自主可控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四个齿轮，缺一不可。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52900" y="4057650"/>
            <a:ext cx="495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819650" y="4057650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华为在四支柱的关键作用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819650" y="4343400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共定方案、施工督导、能力产品化、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15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年兜底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战略合作伙伴，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ABCD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全面深耕。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152900" y="5572125"/>
            <a:ext cx="4953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819650" y="5572125"/>
            <a:ext cx="680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全生命周期的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 15 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年承诺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819650" y="585787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洞察规划、工程支撑、应急维稳、长期延续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四点拼起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0–15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年的支撑。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width: '1280px', height: '720px', padding: '20px 60px', background: '#F8FAFC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WHY IT MATTERS · 第 01 块&lt;/Text&gt;&#10;      &lt;Text style={{ fontSize: 34, color: '#1E293B', fontWeight: 'bold' }}&gt;上海地铁，已是一座城市的民生基础设施&lt;/Text&gt;&#10;    &lt;/Box&gt;&#10;    &lt;Box style={{ flex: 1, flexDirection: 'row', gap: 48, alignItems: 'center', paddingTop: 8 }}&gt;&#10;      &lt;Box style={{ width: 560, flexDirection: 'column', gap: 28 }}&gt;&#10;        &lt;Box&gt;&#10;          &lt;Text style={{ fontSize: 16, color: '#64748B', marginBottom: 4 }}&gt;轨道交通占全市公共交通客运量&lt;/Text&gt;&#10;          &lt;Box style={{ flexDirection: 'row', alignItems: 'baseline', gap: 12 }}&gt;&#10;            &lt;Text style={{ fontSize: 108, color: '#F97316', fontWeight: 'bold', lineHeight: 1, fontFamily: &quot;'Inter', 'Source Han Sans SC', sans-serif&quot; }}&gt;78&lt;/Text&gt;&#10;            &lt;Text style={{ fontSize: 56, color: '#F97316', fontWeight: 'bold', lineHeight: 1 }}&gt;%&lt;/Text&gt;&#10;            &lt;Text style={{ fontSize: 18, color: '#1E293B', marginLeft: 8 }}&gt;（接近八成）&lt;/Text&gt;&#10;          &lt;/Box&gt;&#10;        &lt;/Box&gt;&#10;        &lt;Box&gt;&#10;          &lt;Text style={{ fontSize: 16, color: '#64748B', marginBottom: 4 }}&gt;全年日均客运量 · 单日最高突破&lt;/Text&gt;&#10;          &lt;Box style={{ flexDirection: 'row', alignItems: 'baseline', gap: 12 }}&gt;&#10;            &lt;Text style={{ fontSize: 88, color: '#2563EB', fontWeight: 'bold', lineHeight: 1, fontFamily: &quot;'Inter', 'Source Han Sans SC', sans-serif&quot; }}&gt;1016&lt;/Text&gt;&#10;            &lt;Text style={{ fontSize: 40, color: '#2563EB', fontWeight: 'bold', lineHeight: 1 }}&gt;万&lt;/Text&gt;&#10;            &lt;Text style={{ fontSize: 18, color: '#1E293B', marginLeft: 8 }}&gt;人次 / 1300 万&lt;/Text&gt;&#10;          &lt;/Box&gt;&#10;        &lt;/Box&gt;&#10;      &lt;/Box&gt;&#10;      &lt;Box style={{ flex: 1, flexDirection: 'column', justifyContent: 'center', gap: 20 }}&gt;&#10;        &lt;Box style={{ width: 56, height: 4, background: '#2563EB' }} /&gt;&#10;        &lt;Text style={{ fontSize: 22, color: '#1E293B', fontWeight: 'bold', lineHeight: 1.5 }}&gt;&#10;          这意味着上海地铁已经不是一种交通工具，&#10;          &lt;br /&gt;而是一座城市的&lt;span style={{ color: '#F97316' }}&gt;民生基础设施&lt;/span&gt;。&#10;        &lt;/Text&gt;&#10;        &lt;Text style={{ fontSize: 16, color: '#475569', lineHeight: 1.7 }}&gt;&#10;          城市早高峰的出行秩序、商务区的活力、机场火车站的接驳 —— 地铁一停摆，影响是按城市级计算的。&lt;br /&gt;运营安全不是一句口号，是每天一千多万人次用脚投票的托付。&#10;        &lt;/Text&gt;&#10;        &lt;Text style={{ fontSize: 12, color: '#94A3B8', marginTop: 8 }}&gt;数据来源：《2025 上海综合交通发展报告》/ 上海地铁官方&lt;/Text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3 / 1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WHY IT MATTERS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第</a:t>
            </a: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 01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块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上海地铁，已是一座城市的民生基础设施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21336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轨道交通占全市公共交通客运量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2362200"/>
            <a:ext cx="1314450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100" b="1">
                <a:solidFill>
                  <a:srgbClr val="F97316"/>
                </a:solidFill>
                <a:latin typeface="Inter"/>
                <a:ea typeface="Inter"/>
              </a:rPr>
              <a:t>78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000250" y="2362200"/>
            <a:ext cx="504825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97316"/>
                </a:solidFill>
                <a:latin typeface="Source Han Sans SC"/>
                <a:ea typeface="Source Han Sans SC"/>
              </a:rPr>
              <a:t>%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2695575" y="2362200"/>
            <a:ext cx="1028700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Source Han Sans SC"/>
                <a:ea typeface="Source Han Sans SC"/>
              </a:rPr>
              <a:t>（接近八成）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全年日均客运量</a:t>
            </a:r>
            <a:r>
              <a:rPr lang="en-US" sz="1200">
                <a:solidFill>
                  <a:srgbClr val="64748B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单日最高突破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4095750"/>
            <a:ext cx="21431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Inter"/>
                <a:ea typeface="Inter"/>
              </a:rPr>
              <a:t>1016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828925" y="4095750"/>
            <a:ext cx="3810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2563EB"/>
                </a:solidFill>
                <a:latin typeface="Source Han Sans SC"/>
                <a:ea typeface="Source Han Sans SC"/>
              </a:rPr>
              <a:t>万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400425" y="4095750"/>
            <a:ext cx="11430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Source Han Sans SC"/>
                <a:ea typeface="Source Han Sans SC"/>
              </a:rPr>
              <a:t>人次</a:t>
            </a:r>
            <a:r>
              <a:rPr lang="en-US" sz="1350">
                <a:solidFill>
                  <a:srgbClr val="1E293B"/>
                </a:solidFill>
                <a:latin typeface="Source Han Sans SC"/>
                <a:ea typeface="Source Han Sans SC"/>
              </a:rPr>
              <a:t> / 1300 </a:t>
            </a:r>
            <a:r>
              <a:rPr lang="zh-CN" sz="1350">
                <a:solidFill>
                  <a:srgbClr val="1E293B"/>
                </a:solidFill>
                <a:latin typeface="Source Han Sans SC"/>
                <a:ea typeface="Source Han Sans SC"/>
              </a:rPr>
              <a:t>万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362700" y="2362200"/>
            <a:ext cx="533400" cy="38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362700" y="2590800"/>
            <a:ext cx="52578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这意味着上海地铁已经不是一种交通工具，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而是一座城市的</a:t>
            </a:r>
            <a:r>
              <a:rPr lang="zh-CN" sz="1650" b="1">
                <a:solidFill>
                  <a:srgbClr val="F97316"/>
                </a:solidFill>
                <a:latin typeface="Source Han Sans SC"/>
                <a:ea typeface="Source Han Sans SC"/>
              </a:rPr>
              <a:t>民生基础设施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62700" y="3543300"/>
            <a:ext cx="5257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城市早高峰的出行秩序、商务区的活力、机场火车站的接驳</a:t>
            </a:r>
            <a:r>
              <a:rPr lang="en-US" sz="1200">
                <a:solidFill>
                  <a:srgbClr val="475569"/>
                </a:solidFill>
                <a:latin typeface="Source Han Sans SC"/>
                <a:ea typeface="Source Han Sans SC"/>
              </a:rPr>
              <a:t> —— </a:t>
            </a: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地铁一停摆，影响是按城市级计算的。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运营安全不是一句口号，是每天一千多万人次用脚投票的托付。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362700" y="4743450"/>
            <a:ext cx="5257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数据来源：《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>2025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上海综合交通发展报告》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>/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上海地铁官方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9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A REAL CASE · 真实案例&lt;/Text&gt;&#10;      &lt;Text style={{ fontSize: 34, color: '#1E293B', fontWeight: 'bold' }}&gt;真实发生过的：车地无线被干扰&lt;/Text&gt;&#10;    &lt;/Box&gt;&#10;    &lt;Box style={{ flex: 1, flexDirection: 'row', gap: 40, paddingTop: 8 }}&gt;&#10;      &lt;Box style={{ width: 620, borderRadius: 16, overflow: 'hidden', position: 'relative' }}&gt;&#10;        &lt;Image src=&quot;assets/case_tunnel.png&quot; style={{ width: '100%', height: '100%', objectFit: 'cover' }} /&gt;&#10;        &lt;Box style={{ position: 'absolute', left: 20, bottom: 20, padding: '8px 14px', background: 'rgba(15,42,94,0.7)', borderRadius: 8 }}&gt;&#10;          &lt;Text style={{ fontSize: 12, color: '#FFFFFF', letterSpacing: 2 }}&gt;车地无线通信 · 隧道场景&lt;/Text&gt;&#10;        &lt;/Box&gt;&#10;      &lt;/Box&gt;&#10;      &lt;Box style={{ flex: 1, flexDirection: 'column', justifyContent: 'center', gap: 16 }}&gt;&#10;        &lt;Text style={{ fontSize: 13, color: '#F97316', fontWeight: 'bold', letterSpacing: 3 }}&gt;WHAT HAPPENED&lt;/Text&gt;&#10;        &lt;Text style={{ fontSize: 24, color: '#1E293B', fontWeight: 'bold', lineHeight: 1.4 }}&gt;&#10;          外部干扰源压制了车地无线链路，&#10;          &lt;br /&gt;列车与地面的实时数据传输被迫中断。&#10;        &lt;/Text&gt;&#10;        &lt;Box style={{ width: 48, height: 3, background: '#2563EB' }} /&gt;&#10;        &lt;Text style={{ fontSize: 15, color: '#475569', lineHeight: 1.75 }}&gt;&#10;          列车被迫降级运行 —— 自动驾驶退回人工驾驶，行车间隔被拉长。两次事件均为几个小时，波及多个车站和区段，&lt;span style={{ color: '#F97316', fontWeight: 'bold' }}&gt;影响十几万客流&lt;/span&gt;，波及多个车站和区段，直接冲击的是市民出行。&#10;        &lt;/Text&gt;&#10;        &lt;Box style={{ marginTop: 8, padding: '12px 16px', background: '#F1F5F9', borderLeft: '4px solid #F97316', borderRadius: 6 }}&gt;&#10;          &lt;Text style={{ fontSize: 14, color: '#1E293B', lineHeight: 1.6 }}&gt;&#10;            &lt;span style={{ fontWeight: 'bold' }}&gt;判断：&lt;/span&gt;上海地铁的运营安全，已经不是一家运营公司的事 —— 它直接关联城市运行。&#10;          &lt;/Text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4 / 1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A REAL CASE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真实案例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真实发生过的：车地无线被干扰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0" y="1981200"/>
            <a:ext cx="476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WHAT HAPPENED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58000" y="2286000"/>
            <a:ext cx="47625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E293B"/>
                </a:solidFill>
                <a:latin typeface="Source Han Sans SC"/>
                <a:ea typeface="Source Han Sans SC"/>
              </a:rPr>
              <a:t>外部干扰源压制了车地无线链路，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E293B"/>
                </a:solidFill>
                <a:latin typeface="Source Han Sans SC"/>
                <a:ea typeface="Source Han Sans SC"/>
              </a:rPr>
              <a:t>列车与地面的实时数据传输被迫中断。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858000" y="3209925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58000" y="3390900"/>
            <a:ext cx="4762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列车被迫降级运行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自动驾驶退回人工驾驶，行车间隔被拉长。两次事件均为几个小时，波及多个车站和区段，</a:t>
            </a:r>
            <a:r>
              <a:rPr lang="zh-CN" sz="1125" b="1">
                <a:solidFill>
                  <a:srgbClr val="F97316"/>
                </a:solidFill>
                <a:latin typeface="Source Han Sans SC"/>
                <a:ea typeface="Source Han Sans SC"/>
              </a:rPr>
              <a:t>影响十几万客流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，波及多个车站和区段，直接冲击的是市民出行。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896100" y="4524375"/>
            <a:ext cx="4762500" cy="74295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896100" y="4524375"/>
            <a:ext cx="4762500" cy="742950"/>
          </a:xfrm>
          <a:custGeom>
            <a:pathLst>
              <a:path w="500" h="7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6"/>
                </a:lnTo>
                <a:cubicBezTo>
                  <a:pt x="4" y="77"/>
                  <a:pt x="5" y="78"/>
                  <a:pt x="6" y="78"/>
                </a:cubicBezTo>
                <a:cubicBezTo>
                  <a:pt x="3" y="78"/>
                  <a:pt x="0" y="75"/>
                  <a:pt x="0" y="7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048500" y="4638675"/>
            <a:ext cx="4419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E293B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上海地铁的运营安全，已经不是一家运营公司的事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 —— 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它直接关联城市运行。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04 / 11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1028700"/>
            <a:ext cx="5905500" cy="5181600"/>
          </a:xfrm>
          <a:prstGeom prst="roundRect">
            <a:avLst>
              <a:gd name="adj" fmla="val 2941"/>
            </a:avLst>
          </a:prstGeom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 r:embed="rId1"/>
          <a:srcRect l="12009" t="0" r="12009" b="0"/>
          <a:stretch>
            <a:fillRect/>
          </a:stretch>
        </p:blipFill>
        <p:spPr>
          <a:xfrm rot="0" flipH="0" flipV="0">
            <a:off x="571500" y="1028700"/>
            <a:ext cx="5905500" cy="5181600"/>
          </a:xfrm>
          <a:custGeom>
            <a:pathLst>
              <a:path w="620" h="544">
                <a:moveTo>
                  <a:pt x="604" y="0"/>
                </a:moveTo>
                <a:cubicBezTo>
                  <a:pt x="613" y="0"/>
                  <a:pt x="620" y="7"/>
                  <a:pt x="620" y="16"/>
                </a:cubicBezTo>
                <a:lnTo>
                  <a:pt x="620" y="528"/>
                </a:lnTo>
                <a:cubicBezTo>
                  <a:pt x="620" y="537"/>
                  <a:pt x="613" y="544"/>
                  <a:pt x="604" y="544"/>
                </a:cubicBezTo>
                <a:lnTo>
                  <a:pt x="16" y="544"/>
                </a:lnTo>
                <a:cubicBezTo>
                  <a:pt x="7" y="544"/>
                  <a:pt x="0" y="537"/>
                  <a:pt x="0" y="528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604" y="0"/>
                </a:lnTo>
                <a:close/>
              </a:path>
            </a:pathLst>
          </a:custGeom>
          <a:ln/>
        </p:spPr>
      </p:pic>
      <p:sp>
        <p:nvSpPr>
          <p:cNvPr id="115" name=""/>
          <p:cNvSpPr/>
          <p:nvPr/>
        </p:nvSpPr>
        <p:spPr>
          <a:xfrm rot="0" flipH="0" flipV="0">
            <a:off x="762000" y="5724525"/>
            <a:ext cx="1752600" cy="295275"/>
          </a:xfrm>
          <a:prstGeom prst="roundRect">
            <a:avLst>
              <a:gd name="adj" fmla="val 25806"/>
            </a:avLst>
          </a:prstGeom>
          <a:solidFill>
            <a:srgbClr val="0F2A5E">
              <a:alpha val="70000"/>
            </a:srgbClr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95350" y="580072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FFFFF"/>
                </a:solidFill>
                <a:latin typeface="Source Han Sans SC"/>
                <a:ea typeface="Source Han Sans SC"/>
              </a:rPr>
              <a:t>车地无线通信</a:t>
            </a:r>
            <a:r>
              <a:rPr lang="en-US" sz="900" spc="150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900" spc="150">
                <a:solidFill>
                  <a:srgbClr val="FFFFFF"/>
                </a:solidFill>
                <a:latin typeface="Source Han Sans SC"/>
                <a:ea typeface="Source Han Sans SC"/>
              </a:rPr>
              <a:t>隧道场景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THE FOUR PILLARS · 系统安全&lt;/Text&gt;&#10;      &lt;Text style={{ fontSize: 34, color: '#1E293B', fontWeight: 'bold' }}&gt;系统安全的四大支柱&lt;/Text&gt;&#10;    &lt;/Box&gt;&#10;    &lt;Box style={{ flex: 1, flexDirection: 'row', gap: 40, alignItems: 'center', paddingTop: 8 }}&gt;&#10;      &lt;Box style={{ width: 540, height: 500, justifyContent: 'center', alignItems: 'center' }}&gt;&#10;        &lt;svg width='500' height='500' viewBox='0 0 500 500'&gt;&#10;          &lt;line x1='250' y1='120' x2='250' y2='380' stroke='#CBD5E1' strokeWidth='2' strokeDasharray='4 4' /&gt;&#10;          &lt;line x1='120' y1='250' x2='380' y2='250' stroke='#CBD5E1' strokeWidth='2' strokeDasharray='4 4' /&gt;&#10;          &lt;g transform='translate(250,90)'&gt;&#10;            &lt;g fill='#2563EB'&gt;&#10;              &lt;rect x='-10' y='-78' width='20' height='16' rx='2' /&gt;&#10;              &lt;rect x='-10' y='-78' width='20' height='16' rx='2' transform='rotate(45)' /&gt;&#10;              &lt;rect x='-10' y='-78' width='20' height='16' rx='2' transform='rotate(90)' /&gt;&#10;              &lt;rect x='-10' y='-78' width='20' height='16' rx='2' transform='rotate(135)' /&gt;&#10;              &lt;rect x='-10' y='-78' width='20' height='16' rx='2' transform='rotate(180)' /&gt;&#10;              &lt;rect x='-10' y='-78' width='20' height='16' rx='2' transform='rotate(225)' /&gt;&#10;              &lt;rect x='-10' y='-78' width='20' height='16' rx='2' transform='rotate(270)' /&gt;&#10;              &lt;rect x='-10' y='-78' width='20' height='16' rx='2' transform='rotate(315)' /&gt;&#10;            &lt;/g&gt;&#10;            &lt;circle r='58' fill='#2563EB' stroke='#FFFFFF' strokeWidth='4' /&gt;&#10;            &lt;text y='10' textAnchor='middle' fill='#FFFFFF' fontSize='34' fontWeight='bold' fontFamily='Inter, sans-serif'&gt;A&lt;/text&gt;&#10;          &lt;/g&gt;&#10;          &lt;g transform='translate(410,250)'&gt;&#10;            &lt;g fill='#0EA5E9'&gt;&#10;              &lt;rect x='-10' y='-78' width='20' height='16' rx='2' /&gt;&#10;              &lt;rect x='-10' y='-78' width='20' height='16' rx='2' transform='rotate(45)' /&gt;&#10;              &lt;rect x='-10' y='-78' width='20' height='16' rx='2' transform='rotate(90)' /&gt;&#10;              &lt;rect x='-10' y='-78' width='20' height='16' rx='2' transform='rotate(135)' /&gt;&#10;              &lt;rect x='-10' y='-78' width='20' height='16' rx='2' transform='rotate(180)' /&gt;&#10;              &lt;rect x='-10' y='-78' width='20' height='16' rx='2' transform='rotate(225)' /&gt;&#10;              &lt;rect x='-10' y='-78' width='20' height='16' rx='2' transform='rotate(270)' /&gt;&#10;              &lt;rect x='-10' y='-78' width='20' height='16' rx='2' transform='rotate(315)' /&gt;&#10;            &lt;/g&gt;&#10;            &lt;circle r='58' fill='#0EA5E9' stroke='#FFFFFF' strokeWidth='4' /&gt;&#10;            &lt;text y='10' textAnchor='middle' fill='#FFFFFF' fontSize='34' fontWeight='bold' fontFamily='Inter, sans-serif'&gt;C&lt;/text&gt;&#10;          &lt;/g&gt;&#10;          &lt;g transform='translate(90,250)'&gt;&#10;            &lt;g fill='#2563EB'&gt;&#10;              &lt;rect x='-10' y='-78' width='20' height='16' rx='2' /&gt;&#10;              &lt;rect x='-10' y='-78' width='20' height='16' rx='2' transform='rotate(45)' /&gt;&#10;              &lt;rect x='-10' y='-78' width='20' height='16' rx='2' transform='rotate(90)' /&gt;&#10;              &lt;rect x='-10' y='-78' width='20' height='16' rx='2' transform='rotate(135)' /&gt;&#10;              &lt;rect x='-10' y='-78' width='20' height='16' rx='2' transform='rotate(180)' /&gt;&#10;              &lt;rect x='-10' y='-78' width='20' height='16' rx='2' transform='rotate(225)' /&gt;&#10;              &lt;rect x='-10' y='-78' width='20' height='16' rx='2' transform='rotate(270)' /&gt;&#10;              &lt;rect x='-10' y='-78' width='20' height='16' rx='2' transform='rotate(315)' /&gt;&#10;            &lt;/g&gt;&#10;            &lt;circle r='58' fill='#2563EB' stroke='#FFFFFF' strokeWidth='4' /&gt;&#10;            &lt;text y='10' textAnchor='middle' fill='#FFFFFF' fontSize='34' fontWeight='bold' fontFamily='Inter, sans-serif'&gt;B&lt;/text&gt;&#10;          &lt;/g&gt;&#10;          &lt;g transform='translate(250,410)'&gt;&#10;            &lt;g fill='#0EA5E9'&gt;&#10;              &lt;rect x='-10' y='-78' width='20' height='16' rx='2' /&gt;&#10;              &lt;rect x='-10' y='-78' width='20' height='16' rx='2' transform='rotate(45)' /&gt;&#10;              &lt;rect x='-10' y='-78' width='20' height='16' rx='2' transform='rotate(90)' /&gt;&#10;              &lt;rect x='-10' y='-78' width='20' height='16' rx='2' transform='rotate(135)' /&gt;&#10;              &lt;rect x='-10' y='-78' width='20' height='16' rx='2' transform='rotate(180)' /&gt;&#10;              &lt;rect x='-10' y='-78' width='20' height='16' rx='2' transform='rotate(225)' /&gt;&#10;              &lt;rect x='-10' y='-78' width='20' height='16' rx='2' transform='rotate(270)' /&gt;&#10;              &lt;rect x='-10' y='-78' width='20' height='16' rx='2' transform='rotate(315)' /&gt;&#10;            &lt;/g&gt;&#10;            &lt;circle r='58' fill='#0EA5E9' stroke='#FFFFFF' strokeWidth='4' /&gt;&#10;            &lt;text y='10' textAnchor='middle' fill='#FFFFFF' fontSize='34' fontWeight='bold' fontFamily='Inter, sans-serif'&gt;D&lt;/text&gt;&#10;          &lt;/g&gt;&#10;          &lt;g transform='translate(250,250)'&gt;&#10;            &lt;circle r='46' fill='#0F2A5E' stroke='#F97316' strokeWidth='3' /&gt;&#10;            &lt;text y='-4' textAnchor='middle' fill='#FFFFFF' fontSize='13' fontWeight='bold'&gt;系统&lt;/text&gt;&#10;            &lt;text y='14' textAnchor='middle' fill='#FFFFFF' fontSize='13' fontWeight='bold'&gt;安全&lt;/text&gt;&#10;          &lt;/g&gt;&#10;        &lt;/svg&gt;&#10;      &lt;/Box&gt;&#10;      &lt;Box style={{ flex: 1, flexDirection: 'column', gap: 14 }}&gt;&#10;        &lt;Text style={{ fontSize: 13, color: '#F97316', fontWeight: 'bold', letterSpacing: 3 }}&gt;FOUR GEARS · 缺一不可&lt;/Text&gt;&#10;        &lt;Text style={{ fontSize: 22, color: '#1E293B', fontWeight: 'bold', lineHeight: 1.4 }}&gt;&#10;          A 方案设计合理 · B 建设执行到位&#10;          &lt;br /&gt;C 维护保障有力 · D 全生命周期自主可控&#10;        &lt;/Text&gt;&#10;        &lt;Box style={{ width: 48, height: 3, background: '#2563EB', marginTop: 4 }} /&gt;&#10;        &lt;Text style={{ fontSize: 15, color: '#475569', lineHeight: 1.7 }}&gt;&#10;          这是一个齿轮组的四个齿轮，&lt;span style={{ fontWeight: 'bold', color: '#1E293B' }}&gt;任何一块弱，整组都会出问题&lt;/span&gt;。要把这种安全状态保持 &lt;span style={{ color: '#F97316', fontWeight: 'bold' }}&gt;15 年以上&lt;/span&gt; —— 这正是地铁场景和一般商用场景最大的差别。&#10;        &lt;/Text&gt;&#10;        &lt;Box style={{ marginTop: 10, padding: '14px 18px', background: 'linear-gradient(135deg, rgba(37,99,235,0.08) 0%, rgba(14,165,233,0.08) 100%)', borderLeft: '4px solid #2563EB', borderRadius: 6 }}&gt;&#10;          &lt;Text style={{ fontSize: 14, color: '#1E293B', lineHeight: 1.6 }}&gt;&#10;            &lt;span style={{ fontWeight: 'bold' }}&gt;华为的角色：&lt;/span&gt;作为上海地铁的&lt;span style={{ color: '#2563EB', fontWeight: 'bold' }}&gt;战略合作伙伴&lt;/span&gt;、通信行业的头部企业，也是通信、信号系统的&lt;span style={{ color: '#2563EB', fontWeight: 'bold' }}&gt;主要设备系统供应商&lt;/span&gt;，在 A / B / C / D 四个支柱都能起到关键作用。&#10;          &lt;/Text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5 / 1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THE FOUR PILLARS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系统安全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系统安全的四大支柱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238250"/>
            <a:ext cx="4762500" cy="47625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0" y="2162175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FOUR GEARS · </a:t>
            </a:r>
            <a:r>
              <a:rPr lang="zh-CN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缺一不可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0" y="2447925"/>
            <a:ext cx="5524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 b="1">
                <a:solidFill>
                  <a:srgbClr val="1E293B"/>
                </a:solidFill>
                <a:latin typeface="Source Han Sans SC"/>
                <a:ea typeface="Source Han Sans SC"/>
              </a:rPr>
              <a:t>A 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方案设计合理</a:t>
            </a:r>
            <a:r>
              <a:rPr lang="en-US" sz="1650" b="1">
                <a:solidFill>
                  <a:srgbClr val="1E293B"/>
                </a:solidFill>
                <a:latin typeface="Source Han Sans SC"/>
                <a:ea typeface="Source Han Sans SC"/>
              </a:rPr>
              <a:t> · B 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建设执行到位</a:t>
            </a:r>
            <a:endParaRPr/>
          </a:p>
          <a:p>
            <a:pPr>
              <a:lnSpc>
                <a:spcPct val="140000"/>
              </a:lnSpc>
            </a:pPr>
            <a:r>
              <a:rPr lang="en-US" sz="1650" b="1">
                <a:solidFill>
                  <a:srgbClr val="1E293B"/>
                </a:solidFill>
                <a:latin typeface="Source Han Sans SC"/>
                <a:ea typeface="Source Han Sans SC"/>
              </a:rPr>
              <a:t>C 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维护保障有力</a:t>
            </a:r>
            <a:r>
              <a:rPr lang="en-US" sz="1650" b="1">
                <a:solidFill>
                  <a:srgbClr val="1E293B"/>
                </a:solidFill>
                <a:latin typeface="Source Han Sans SC"/>
                <a:ea typeface="Source Han Sans SC"/>
              </a:rPr>
              <a:t> · D 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全生命周期自主可控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0" y="3324225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0" y="3486150"/>
            <a:ext cx="5524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这是一个齿轮组的四个齿轮，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任何一块弱，整组都会出问题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。要把这种安全状态保持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</a:t>
            </a:r>
            <a:r>
              <a:rPr lang="en-US" sz="1125" b="1">
                <a:solidFill>
                  <a:srgbClr val="F97316"/>
                </a:solidFill>
                <a:latin typeface="Source Han Sans SC"/>
                <a:ea typeface="Source Han Sans SC"/>
              </a:rPr>
              <a:t>15 </a:t>
            </a:r>
            <a:r>
              <a:rPr lang="zh-CN" sz="1125" b="1">
                <a:solidFill>
                  <a:srgbClr val="F97316"/>
                </a:solidFill>
                <a:latin typeface="Source Han Sans SC"/>
                <a:ea typeface="Source Han Sans SC"/>
              </a:rPr>
              <a:t>年以上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这正是地铁场景和一般商用场景最大的差别。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134100" y="4305300"/>
            <a:ext cx="5524500" cy="781050"/>
          </a:xfrm>
          <a:prstGeom prst="roundRect">
            <a:avLst>
              <a:gd name="adj" fmla="val 7317"/>
            </a:avLst>
          </a:prstGeom>
          <a:gradFill>
            <a:gsLst>
              <a:gs pos="0">
                <a:srgbClr val="2563EB">
                  <a:alpha val="8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134100" y="4305300"/>
            <a:ext cx="5524500" cy="781050"/>
          </a:xfrm>
          <a:custGeom>
            <a:pathLst>
              <a:path w="580" h="82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0"/>
                </a:lnTo>
                <a:cubicBezTo>
                  <a:pt x="4" y="81"/>
                  <a:pt x="5" y="82"/>
                  <a:pt x="6" y="82"/>
                </a:cubicBezTo>
                <a:cubicBezTo>
                  <a:pt x="3" y="82"/>
                  <a:pt x="0" y="79"/>
                  <a:pt x="0" y="7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05550" y="4438650"/>
            <a:ext cx="5143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E293B"/>
                </a:solidFill>
                <a:latin typeface="Source Han Sans SC"/>
                <a:ea typeface="Source Han Sans SC"/>
              </a:rPr>
              <a:t>华为的角色：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作为上海地铁的</a:t>
            </a:r>
            <a:r>
              <a:rPr lang="zh-CN" sz="1050" b="1">
                <a:solidFill>
                  <a:srgbClr val="2563EB"/>
                </a:solidFill>
                <a:latin typeface="Source Han Sans SC"/>
                <a:ea typeface="Source Han Sans SC"/>
              </a:rPr>
              <a:t>战略合作伙伴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、通信行业的头部企业，也是通信、信号系统的</a:t>
            </a:r>
            <a:r>
              <a:rPr lang="zh-CN" sz="1050" b="1">
                <a:solidFill>
                  <a:srgbClr val="2563EB"/>
                </a:solidFill>
                <a:latin typeface="Source Han Sans SC"/>
                <a:ea typeface="Source Han Sans SC"/>
              </a:rPr>
              <a:t>主要设备系统供应商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，在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 A / B / C / D 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四个支柱都能起到关键作用。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PILLAR A · 方案设计&lt;/Text&gt;&#10;      &lt;Text style={{ fontSize: 34, color: '#1E293B', fontWeight: 'bold' }}&gt;A · 方案设计合理：从&quot;卖设备&quot;到&quot;共定方案&quot;&lt;/Text&gt;&#10;    &lt;/Box&gt;&#10;    &lt;Box style={{ flex: 1, flexDirection: 'row', gap: 36, paddingTop: 8 }}&gt;&#10;      &lt;Box style={{ flex: 1.5, flexDirection: 'column', gap: 14, justifyContent: 'center' }}&gt;&#10;        &lt;Text style={{ fontSize: 13, color: '#F97316', fontWeight: 'bold', letterSpacing: 3 }}&gt;THE GAP · 常见偏差&lt;/Text&gt;&#10;        &lt;Text style={{ fontSize: 20, color: '#1E293B', fontWeight: 'bold', lineHeight: 1.5 }}&gt;&#10;          供应商按&quot;卖设备&quot;的思路做方案 ——&lt;br /&gt;给通用货架，而不是为地铁场景长出来的系统。&#10;        &lt;/Text&gt;&#10;        &lt;Box style={{ width: 48, height: 3, background: '#2563EB', marginTop: 4 }} /&gt;&#10;        &lt;Text style={{ fontSize: 15, color: '#475569', lineHeight: 1.75 }}&gt;&#10;          地铁场景的特殊性写不进教科书：&lt;span style={{ fontWeight: 'bold', color: '#1E293B' }}&gt;列车高速移动下的无线切换&lt;/span&gt;、&lt;span style={{ fontWeight: 'bold', color: '#1E293B' }}&gt;隧道环境下的电磁兼容&lt;/span&gt;、&lt;span style={{ fontWeight: 'bold', color: '#1E293B' }}&gt;24×365 不间断的可靠性冗余&lt;/span&gt;、&lt;span style={{ fontWeight: 'bold', color: '#1E293B' }}&gt;与信号系统的深度耦合&lt;/span&gt;。这些必须从场景里长出来。&#10;        &lt;/Text&gt;&#10;      &lt;/Box&gt;&#10;      &lt;Box style={{ flex: 1, flexDirection: 'column', gap: 12, justifyContent: 'center' }}&gt;&#10;        &lt;Box style={{ padding: 22, background: 'linear-gradient(135deg, rgba(37,99,235,0.08) 0%, rgba(14,165,233,0.06) 100%)', borderLeft: '4px solid #2563EB', borderRadius: 8 }}&gt;&#10;          &lt;Text style={{ fontSize: 13, color: '#2563EB', fontWeight: 'bold', letterSpacing: 2, marginBottom: 10 }}&gt;RAMS 校核&lt;/Text&gt;&#10;          &lt;Text style={{ fontSize: 14, color: '#475569', lineHeight: 1.6 }}&gt;Reliability / Availability / Maintainability / Safety，逐项落到设计文件而非事后整改。&lt;/Text&gt;&#10;        &lt;/Box&gt;&#10;        &lt;Box style={{ padding: 22, background: '#F8FAFC', borderRadius: 8 }}&gt;&#10;          &lt;Text style={{ fontSize: 13, color: '#0EA5E9', fontWeight: 'bold', letterSpacing: 2, marginBottom: 10 }}&gt;冗余策略&lt;/Text&gt;&#10;          &lt;Text style={{ fontSize: 14, color: '#475569', lineHeight: 1.6 }}&gt;从顶层架构到与信号 / 车辆 / 供电系统的接口边界，&quot;合理&quot;二字要写在设计文件里。&lt;/Text&gt;&#10;        &lt;/Box&gt;&#10;        &lt;Box style={{ padding: 18, background: '#0F2A5E', borderRadius: 8 }}&gt;&#10;          &lt;Text style={{ fontSize: 13, color: '#F97316', fontWeight: 'bold', letterSpacing: 2, marginBottom: 8 }}&gt;华为关键作用&lt;/Text&gt;&#10;          &lt;Text style={{ fontSize: 14, color: '#FFFFFF', lineHeight: 1.6 }}&gt;&lt;span style={{ fontWeight: 'bold' }}&gt;共定方案&lt;/span&gt; —— 在方案阶段就和我们一起，从顶层架构到接口边界共同设计。&lt;/Text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6 / 1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PILLAR A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方案设计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A ·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方案设计合理：从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卖设备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到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共定方案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26670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THE GAP · </a:t>
            </a:r>
            <a:r>
              <a:rPr lang="zh-CN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常见偏差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641985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供应商按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卖设备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的思路做方案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 ——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给通用货架，而不是为地铁场景长出来的系统。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71500" y="381000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71500" y="3971925"/>
            <a:ext cx="64198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地铁场景的特殊性写不进教科书：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列车高速移动下的无线切换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、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隧道环境下的电磁兼容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、</a:t>
            </a:r>
            <a:r>
              <a:rPr lang="en-US" sz="1125" b="1">
                <a:solidFill>
                  <a:srgbClr val="1E293B"/>
                </a:solidFill>
                <a:latin typeface="Source Han Sans SC"/>
                <a:ea typeface="Source Han Sans SC"/>
              </a:rPr>
              <a:t>24×365 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不间断的可靠性冗余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、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与信号系统的深度耦合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。这些必须从场景里长出来。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7372350" y="1781175"/>
            <a:ext cx="4286250" cy="118110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2563EB">
                  <a:alpha val="8000"/>
                </a:srgbClr>
              </a:gs>
              <a:gs pos="100000">
                <a:srgbClr val="0EA5E9">
                  <a:alpha val="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7372350" y="1781175"/>
            <a:ext cx="4286250" cy="1181100"/>
          </a:xfrm>
          <a:custGeom>
            <a:pathLst>
              <a:path w="450" h="12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0"/>
                </a:lnTo>
                <a:cubicBezTo>
                  <a:pt x="4" y="122"/>
                  <a:pt x="5" y="124"/>
                  <a:pt x="7" y="124"/>
                </a:cubicBezTo>
                <a:cubicBezTo>
                  <a:pt x="3" y="124"/>
                  <a:pt x="0" y="120"/>
                  <a:pt x="0" y="11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581900" y="199072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Source Han Sans SC"/>
                <a:ea typeface="Source Han Sans SC"/>
              </a:rPr>
              <a:t>RAMS </a:t>
            </a:r>
            <a:r>
              <a:rPr lang="zh-CN" sz="975" b="1" spc="150">
                <a:solidFill>
                  <a:srgbClr val="2563EB"/>
                </a:solidFill>
                <a:latin typeface="Source Han Sans SC"/>
                <a:ea typeface="Source Han Sans SC"/>
              </a:rPr>
              <a:t>校核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581900" y="2238375"/>
            <a:ext cx="3829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Reliability / Availability / Maintainability / Safety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，逐项落到设计文件而非事后整改。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7334250" y="3076575"/>
            <a:ext cx="4286250" cy="118110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543800" y="3286125"/>
            <a:ext cx="386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0EA5E9"/>
                </a:solidFill>
                <a:latin typeface="Source Han Sans SC"/>
                <a:ea typeface="Source Han Sans SC"/>
              </a:rPr>
              <a:t>冗余策略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543800" y="3533775"/>
            <a:ext cx="3867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从顶层架构到与信号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 / 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车辆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 / 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供电系统的接口边界，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合理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二字要写在设计文件里。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334250" y="4371975"/>
            <a:ext cx="4286250" cy="1085850"/>
          </a:xfrm>
          <a:prstGeom prst="roundRect">
            <a:avLst>
              <a:gd name="adj" fmla="val 7018"/>
            </a:avLst>
          </a:prstGeom>
          <a:solidFill>
            <a:srgbClr val="0F2A5E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505700" y="4543425"/>
            <a:ext cx="394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F97316"/>
                </a:solidFill>
                <a:latin typeface="Source Han Sans SC"/>
                <a:ea typeface="Source Han Sans SC"/>
              </a:rPr>
              <a:t>华为关键作用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505700" y="4772025"/>
            <a:ext cx="3943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FFFFFF"/>
                </a:solidFill>
                <a:latin typeface="Source Han Sans SC"/>
                <a:ea typeface="Source Han Sans SC"/>
              </a:rPr>
              <a:t>共定方案</a:t>
            </a:r>
            <a:r>
              <a:rPr lang="en-US" sz="1050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在方案阶段就和我们一起，从顶层架构到接口边界共同设计。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'1280px', height: '720px', padding: '0', background: '#FFFFFF', fontFamily: &quot;'Source Han Sans SC', 'PingFang SC', 'Microsoft YaHei', sans-serif&quot; }}&gt;&#10;  &lt;Box style={{ flexDirection: 'row', height: '100%' }}&gt;&#10;    &lt;Box style={{ width: 360, background: 'linear-gradient(135deg,#2563EB 0%,#1E40AF 100%)', flexDirection: 'column', justifyContent: 'center', padding: '0 44px' }}&gt;&#10;      &lt;Text style={{ fontSize: 120, color: '#FFFFFF', fontWeight: 'bold', fontFamily: 'Inter, sans-serif', lineHeight: 1 }}&gt;B&lt;/Text&gt;&#10;      &lt;Text style={{ fontSize: 30, color: '#FFFFFF', fontWeight: 'bold', marginTop: 10 }}&gt;建设执行到位&lt;/Text&gt;&#10;      &lt;Box style={{ width: 48, height: 3, background: '#F97316', marginTop: 16 }} /&gt;&#10;      &lt;Text style={{ fontSize: 15, color: 'rgba(255,255,255,0.85)', lineHeight: 1.7, marginTop: 16 }}&gt;别让图纸停在 PPT 里 —— 设计再好，落不了地等于零。&lt;/Text&gt;&#10;    &lt;/Box&gt;&#10;    &lt;Box style={{ flex: 1, flexDirection: 'column', padding: '56px 56px 40px', justifyContent: 'center' }}&gt;&#10;      &lt;Text style={{ fontSize: 14, color: '#2563EB', fontWeight: 'bold', letterSpacing: 4, marginBottom: 6 }}&gt;PILLAR B · 建设执行&lt;/Text&gt;&#10;      &lt;Text style={{ fontSize: 22, color: '#1E293B', fontWeight: 'bold', marginBottom: 24 }}&gt;高质量交付，要过四道关&lt;/Text&gt;&#10;      &lt;Box style={{ flexDirection: 'column', gap: 14 }}&gt;&#10;        &lt;Box style={{ flexDirection: 'row', gap: 16, alignItems: 'flex-start' }}&gt;&#10;          &lt;Box style={{ width: 34, height: 34, borderRadius: 8, background: '#2563EB', alignItems: 'center', justifyContent: 'center' }}&gt;&#10;            &lt;Text style={{ fontSize: 16, color: '#FFFFFF', fontWeight: 'bold' }}&gt;1&lt;/Text&gt;&#10;          &lt;/Box&gt;&#10;          &lt;Box style={{ flex: 1 }}&gt;&#10;            &lt;Text style={{ fontSize: 18, color: '#1E293B', fontWeight: 'bold' }}&gt;工艺化转化&lt;/Text&gt;&#10;            &lt;Text style={{ fontSize: 14, color: '#475569', lineHeight: 1.6 }}&gt;把设计文件落成可施工的工艺标准，杜绝&quot;现场自由发挥&quot;。&lt;/Text&gt;&#10;          &lt;/Box&gt;&#10;        &lt;/Box&gt;&#10;        &lt;Box style={{ flexDirection: 'row', gap: 16, alignItems: 'flex-start' }}&gt;&#10;          &lt;Box style={{ width: 34, height: 34, borderRadius: 8, background: '#2563EB', alignItems: 'center', justifyContent: 'center' }}&gt;&#10;            &lt;Text style={{ fontSize: 16, color: '#FFFFFF', fontWeight: 'bold' }}&gt;2&lt;/Text&gt;&#10;          &lt;/Box&gt;&#10;          &lt;Box style={{ flex: 1 }}&gt;&#10;            &lt;Text style={{ fontSize: 18, color: '#1E293B', fontWeight: 'bold' }}&gt;施工监理&lt;/Text&gt;&#10;            &lt;Text style={{ fontSize: 14, color: '#475569', lineHeight: 1.6 }}&gt;关键工序驻场监理，隐蔽工程不留死角、过程可追溯。&lt;/Text&gt;&#10;          &lt;/Box&gt;&#10;        &lt;/Box&gt;&#10;        &lt;Box style={{ flexDirection: 'row', gap: 16, alignItems: 'flex-start' }}&gt;&#10;          &lt;Box style={{ width: 34, height: 34, borderRadius: 8, background: '#2563EB', alignItems: 'center', justifyContent: 'center' }}&gt;&#10;            &lt;Text style={{ fontSize: 16, color: '#FFFFFF', fontWeight: 'bold' }}&gt;3&lt;/Text&gt;&#10;          &lt;/Box&gt;&#10;          &lt;Box style={{ flex: 1 }}&gt;&#10;            &lt;Text style={{ fontSize: 18, color: '#1E293B', fontWeight: 'bold' }}&gt;质量把控&lt;/Text&gt;&#10;            &lt;Text style={{ fontSize: 14, color: '#475569', lineHeight: 1.6 }}&gt;关键节点联合验收，用运营标准而非出厂标准卡质量。&lt;/Text&gt;&#10;          &lt;/Box&gt;&#10;        &lt;/Box&gt;&#10;        &lt;Box style={{ flexDirection: 'row', gap: 16, alignItems: 'flex-start' }}&gt;&#10;          &lt;Box style={{ width: 34, height: 34, borderRadius: 8, background: '#F97316', alignItems: 'center', justifyContent: 'center' }}&gt;&#10;            &lt;Text style={{ fontSize: 16, color: '#FFFFFF', fontWeight: 'bold' }}&gt;4&lt;/Text&gt;&#10;          &lt;/Box&gt;&#10;          &lt;Box style={{ flex: 1 }}&gt;&#10;            &lt;Text style={{ fontSize: 18, color: '#1E293B', fontWeight: 'bold' }}&gt;联调联试&lt;/Text&gt;&#10;            &lt;Text style={{ fontSize: 14, color: '#475569', lineHeight: 1.6 }}&gt;从产品级升到运营级：在真实行车环境里跑通才算交付。&lt;/Text&gt;&#10;          &lt;/Box&gt;&#10;        &lt;/Box&gt;&#10;      &lt;/Box&gt;&#10;      &lt;Box style={{ marginTop: 22, padding: '12px 16px', background: 'rgba(37,99,235,0.06)', borderLeft: '4px solid #2563EB', borderRadius: 6 }}&gt;&#10;        &lt;Text style={{ fontSize: 14, color: '#1E293B', lineHeight: 1.6 }}&gt;&lt;span style={{ fontWeight: 'bold' }}&gt;华为关键作用：&lt;/span&gt;参与工艺标准制定、派有地铁经验的督导、关键节点联合验收，把&quot;交付设备&quot;做成&quot;交付可用系统&quot;。&lt;/Text&gt;&#10;      &lt;/Box&gt;&#10;    &lt;/Box&gt;&#10;  &lt;/Box&gt;&#10;  &lt;Box style={{ position: 'absolute', left: 0, right: 0, bottom: 0, height: 46, flexDirection: 'row', justifyContent: 'space-between', alignItems: 'center', padding: '0 56px', borderTop: '1px solid #E5E7EB' }}&gt;&#10;    &lt;Text style={{ fontSize: 13, color: '#94A3B8' }}&gt;上海地铁通号 × 华为 · 安全交流&lt;/Text&gt;&#10;    &lt;Text style={{ fontSize: 13, color: '#94A3B8' }}&gt;07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9100" y="2066925"/>
            <a:ext cx="25908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/>
                </a:solidFill>
                <a:latin typeface="Inter"/>
                <a:ea typeface="Inter"/>
              </a:rPr>
              <a:t>B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3533775"/>
            <a:ext cx="2590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建设执行到位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19100" y="4029075"/>
            <a:ext cx="457200" cy="2857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19100" y="421005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别让图纸停在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PPT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里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——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设计再好，落不了地等于零。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962400" y="1676400"/>
            <a:ext cx="769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PILLAR B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建设执行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962400" y="1895475"/>
            <a:ext cx="769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高质量交付，要过四道关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962400" y="23812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076700" y="2447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438650" y="2381250"/>
            <a:ext cx="721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Source Han Sans SC"/>
                <a:ea typeface="Source Han Sans SC"/>
              </a:rPr>
              <a:t>工艺化转化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438650" y="2590800"/>
            <a:ext cx="7219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把设计文件落成可施工的工艺标准，杜绝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现场自由发挥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3962400" y="29813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076700" y="30480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438650" y="2981325"/>
            <a:ext cx="721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Source Han Sans SC"/>
                <a:ea typeface="Source Han Sans SC"/>
              </a:rPr>
              <a:t>施工监理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438650" y="3190875"/>
            <a:ext cx="7219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关键工序驻场监理，隐蔽工程不留死角、过程可追溯。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962400" y="35814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076700" y="3648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438650" y="3581400"/>
            <a:ext cx="721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Source Han Sans SC"/>
                <a:ea typeface="Source Han Sans SC"/>
              </a:rPr>
              <a:t>质量把控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438650" y="3790950"/>
            <a:ext cx="7219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关键节点联合验收，用运营标准而非出厂标准卡质量。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962400" y="4181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076700" y="4248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438650" y="4181475"/>
            <a:ext cx="7219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Source Han Sans SC"/>
                <a:ea typeface="Source Han Sans SC"/>
              </a:rPr>
              <a:t>联调联试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438650" y="4391025"/>
            <a:ext cx="7219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从产品级升到运营级：在真实行车环境里跑通才算交付。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000500" y="4857750"/>
            <a:ext cx="7696200" cy="485775"/>
          </a:xfrm>
          <a:prstGeom prst="roundRect">
            <a:avLst>
              <a:gd name="adj" fmla="val 11765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4000500" y="4857750"/>
            <a:ext cx="7696200" cy="485775"/>
          </a:xfrm>
          <a:custGeom>
            <a:pathLst>
              <a:path w="808" h="5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9"/>
                </a:lnTo>
                <a:cubicBezTo>
                  <a:pt x="4" y="50"/>
                  <a:pt x="5" y="51"/>
                  <a:pt x="6" y="51"/>
                </a:cubicBezTo>
                <a:cubicBezTo>
                  <a:pt x="3" y="51"/>
                  <a:pt x="0" y="48"/>
                  <a:pt x="0" y="4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152900" y="4972050"/>
            <a:ext cx="7353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E293B"/>
                </a:solidFill>
                <a:latin typeface="Source Han Sans SC"/>
                <a:ea typeface="Source Han Sans SC"/>
              </a:rPr>
              <a:t>华为关键作用：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参与工艺标准制定、派有地铁经验的督导、关键节点联合验收，把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交付设备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做成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交付可用系统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33400" y="6572250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239500" y="65722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4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PILLAR C · 维护保障&lt;/Text&gt;&#10;      &lt;Text style={{ fontSize: 34, color: '#1E293B', fontWeight: 'bold' }}&gt;C · 维护保障有力：把&quot;经验&quot;变成&quot;能力&quot;&lt;/Text&gt;&#10;    &lt;/Box&gt;&#10;    &lt;Box style={{ flex: 1, flexDirection: 'row', gap: 44, paddingTop: 8, alignItems: 'center' }}&gt;&#10;      &lt;Box style={{ flex: 1.5, flexDirection: 'column', gap: 14, justifyContent: 'center' }}&gt;&#10;        &lt;Text style={{ fontSize: 13, color: '#F97316', fontWeight: 'bold', letterSpacing: 3 }}&gt;FOUR CAPABILITIES · 维护四能力&lt;/Text&gt;&#10;        &lt;Text style={{ fontSize: 20, color: '#1E293B', fontWeight: 'bold', lineHeight: 1.5 }}&gt;感知 → 预警 → 定位 → 操作，&lt;br /&gt;构成闭环的现场处置能力。&lt;/Text&gt;&#10;        &lt;Box style={{ width: 48, height: 3, background: '#2563EB', marginTop: 4 }} /&gt;&#10;        &lt;Text style={{ fontSize: 15, color: '#475569', lineHeight: 1.75 }}&gt;&#10;          以车地无线为例：&lt;span style={{ fontWeight: 'bold', color: '#1E293B' }}&gt;无线环境智能监测系统&lt;/span&gt;把同类干扰事件的处置，从&quot;小时级排查&quot;压到最快 &lt;span style={{ color: '#F97316', fontWeight: 'bold' }}&gt;0.5–2.5 小时&lt;/span&gt;——靠的不是某个人经验，是系统能力。&#10;        &lt;/Text&gt;&#10;        &lt;Box style={{ marginTop: 8, padding: '14px 18px', background: '#0F2A5E', borderRadius: 8 }}&gt;&#10;          &lt;Text style={{ fontSize: 14, color: '#FFFFFF', lineHeight: 1.6 }}&gt;&lt;span style={{ fontWeight: 'bold', color: '#F97316' }}&gt;华为关键作用：&lt;/span&gt;把&quot;老师傅的经验&quot;产品化 —— 联合开发监测工具、让 IoT / AI / 视频能力落到现场、把培训演练做得精准可复现。&lt;/Text&gt;&#10;        &lt;/Box&gt;&#10;      &lt;/Box&gt;&#10;      &lt;Box style={{ width: 420, height: 460, justifyContent: 'center', alignItems: 'center' }}&gt;&#10;        &lt;svg width='400' height='400' viewBox='0 0 400 400'&gt;&#10;          &lt;line x1='200' y1='80' x2='320' y2='200' stroke='#CBD5E1' strokeWidth='2' /&gt;&#10;          &lt;line x1='320' y1='200' x2='200' y2='320' stroke='#CBD5E1' strokeWidth='2' /&gt;&#10;          &lt;line x1='200' y1='320' x2='80' y2='200' stroke='#CBD5E1' strokeWidth='2' /&gt;&#10;          &lt;line x1='80' y1='200' x2='200' y2='80' stroke='#CBD5E1' strokeWidth='2' /&gt;&#10;          &lt;g transform='translate(200,80)'&gt;&#10;            &lt;circle r='52' fill='#2563EB' stroke='#FFFFFF' strokeWidth='4' /&gt;&#10;            &lt;text y='-6' textAnchor='middle' fill='#FFFFFF' fontSize='22' fontWeight='bold' fontFamily='Inter, sans-serif'&gt;01&lt;/text&gt;&#10;            &lt;text y='20' textAnchor='middle' fill='#FFFFFF' fontSize='20' fontWeight='bold'&gt;感知&lt;/text&gt;&#10;          &lt;/g&gt;&#10;          &lt;g transform='translate(320,200)'&gt;&#10;            &lt;circle r='52' fill='#0EA5E9' stroke='#FFFFFF' strokeWidth='4' /&gt;&#10;            &lt;text y='-6' textAnchor='middle' fill='#FFFFFF' fontSize='22' fontWeight='bold' fontFamily='Inter, sans-serif'&gt;02&lt;/text&gt;&#10;            &lt;text y='20' textAnchor='middle' fill='#FFFFFF' fontSize='20' fontWeight='bold'&gt;预警&lt;/text&gt;&#10;          &lt;/g&gt;&#10;          &lt;g transform='translate(200,320)'&gt;&#10;            &lt;circle r='52' fill='#2563EB' stroke='#FFFFFF' strokeWidth='4' /&gt;&#10;            &lt;text y='-6' textAnchor='middle' fill='#FFFFFF' fontSize='22' fontWeight='bold' fontFamily='Inter, sans-serif'&gt;03&lt;/text&gt;&#10;            &lt;text y='20' textAnchor='middle' fill='#FFFFFF' fontSize='20' fontWeight='bold'&gt;定位&lt;/text&gt;&#10;          &lt;/g&gt;&#10;          &lt;g transform='translate(80,200)'&gt;&#10;            &lt;circle r='52' fill='#0EA5E9' stroke='#FFFFFF' strokeWidth='4' /&gt;&#10;            &lt;text y='-6' textAnchor='middle' fill='#FFFFFF' fontSize='22' fontWeight='bold' fontFamily='Inter, sans-serif'&gt;04&lt;/text&gt;&#10;            &lt;text y='20' textAnchor='middle' fill='#FFFFFF' fontSize='20' fontWeight='bold'&gt;操作&lt;/text&gt;&#10;          &lt;/g&gt;&#10;          &lt;circle r='30' fill='#0F2A5E' stroke='#F97316' strokeWidth='3' /&gt;&#10;          &lt;text y='6' textAnchor='middle' fill='#FFFFFF' fontSize='16' fontWeight='bold'&gt;闭环&lt;/text&gt;&#10;        &lt;/svg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8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PILLAR C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维护保障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C ·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维护保障有力：把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经验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变成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能力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662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FOUR CAPABILITIES · </a:t>
            </a:r>
            <a:r>
              <a:rPr lang="zh-CN" sz="975" b="1" spc="225">
                <a:solidFill>
                  <a:srgbClr val="F97316"/>
                </a:solidFill>
                <a:latin typeface="Source Han Sans SC"/>
                <a:ea typeface="Source Han Sans SC"/>
              </a:rPr>
              <a:t>维护四能力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71500" y="2457450"/>
            <a:ext cx="66294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感知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 → 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预警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 → 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定位</a:t>
            </a:r>
            <a:r>
              <a:rPr lang="en-US" sz="1500" b="1">
                <a:solidFill>
                  <a:srgbClr val="1E293B"/>
                </a:solidFill>
                <a:latin typeface="Source Han Sans SC"/>
                <a:ea typeface="Source Han Sans SC"/>
              </a:rPr>
              <a:t> → </a:t>
            </a: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操作，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构成闭环的现场处置能力。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71500" y="331470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71500" y="3476625"/>
            <a:ext cx="6629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以车地无线为例：</a:t>
            </a:r>
            <a:r>
              <a:rPr lang="zh-CN" sz="1125" b="1">
                <a:solidFill>
                  <a:srgbClr val="1E293B"/>
                </a:solidFill>
                <a:latin typeface="Source Han Sans SC"/>
                <a:ea typeface="Source Han Sans SC"/>
              </a:rPr>
              <a:t>无线环境智能监测系统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把同类干扰事件的处置，从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小时级排查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压到最快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</a:t>
            </a:r>
            <a:r>
              <a:rPr lang="en-US" sz="1125" b="1">
                <a:solidFill>
                  <a:srgbClr val="F97316"/>
                </a:solidFill>
                <a:latin typeface="Source Han Sans SC"/>
                <a:ea typeface="Source Han Sans SC"/>
              </a:rPr>
              <a:t>0.5–2.5 </a:t>
            </a:r>
            <a:r>
              <a:rPr lang="zh-CN" sz="1125" b="1">
                <a:solidFill>
                  <a:srgbClr val="F97316"/>
                </a:solidFill>
                <a:latin typeface="Source Han Sans SC"/>
                <a:ea typeface="Source Han Sans SC"/>
              </a:rPr>
              <a:t>小时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——靠的不是某个人经验，是系统能力。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71500" y="4286250"/>
            <a:ext cx="6629400" cy="781050"/>
          </a:xfrm>
          <a:prstGeom prst="roundRect">
            <a:avLst>
              <a:gd name="adj" fmla="val 9756"/>
            </a:avLst>
          </a:prstGeom>
          <a:solidFill>
            <a:srgbClr val="0F2A5E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2950" y="4419600"/>
            <a:ext cx="6286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F97316"/>
                </a:solidFill>
                <a:latin typeface="Source Han Sans SC"/>
                <a:ea typeface="Source Han Sans SC"/>
              </a:rPr>
              <a:t>华为关键作用：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把</a:t>
            </a:r>
            <a:r>
              <a:rPr lang="en-US" sz="1050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老师傅的经验</a:t>
            </a:r>
            <a:r>
              <a:rPr lang="en-US" sz="1050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产品化</a:t>
            </a:r>
            <a:r>
              <a:rPr lang="en-US" sz="1050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联合开发监测工具、让</a:t>
            </a:r>
            <a:r>
              <a:rPr lang="en-US" sz="1050">
                <a:solidFill>
                  <a:srgbClr val="FFFFFF"/>
                </a:solidFill>
                <a:latin typeface="Source Han Sans SC"/>
                <a:ea typeface="Source Han Sans SC"/>
              </a:rPr>
              <a:t> IoT / AI / </a:t>
            </a: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视频能力落到现场、把培训演练做得精准可复现。</a:t>
            </a:r>
            <a:endParaRPr/>
          </a:p>
        </p:txBody>
      </p:sp>
      <p:pic>
        <p:nvPicPr>
          <p:cNvPr id="1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1714500"/>
            <a:ext cx="3810000" cy="3810000"/>
          </a:xfrm>
          <a:prstGeom prst="rect">
            <a:avLst/>
          </a:prstGeom>
          <a:ln/>
        </p:spPr>
      </p:pic>
      <p:sp>
        <p:nvSpPr>
          <p:cNvPr id="195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8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PILLAR D · 全生命周期自主可控&lt;/Text&gt;&#10;      &lt;Text style={{ fontSize: 34, color: '#1E293B', fontWeight: 'bold' }}&gt;D · 全生命周期自主可控：15 年的承诺，谁来兜底&lt;/Text&gt;&#10;    &lt;/Box&gt;&#10;    &lt;Box style={{ flex: 1, flexDirection: 'column', justifyContent: 'center', gap: 18, paddingTop: 6 }}&gt;&#10;      &lt;Box style={{ flexDirection: 'row', alignItems: 'flex-end', gap: 48 }}&gt;&#10;        &lt;Box style={{ flexDirection: 'column' }}&gt;&#10;          &lt;Text style={{ fontSize: 96, color: '#F97316', fontWeight: 'bold', fontFamily: 'Inter, sans-serif', lineHeight: 1 }}&gt;15&lt;Text style={{ fontSize: 44 }}&gt;年&lt;/Text&gt;&lt;/Text&gt;&#10;          &lt;Text style={{ fontSize: 16, color: '#475569', marginTop: 4 }}&gt;通信设备设计寿命 · 责任刻度&lt;/Text&gt;&#10;        &lt;/Box&gt;&#10;        &lt;Box style={{ flexDirection: 'column', marginBottom: 10 }}&gt;&#10;          &lt;Text style={{ fontSize: 40, color: '#64748B', fontWeight: 'bold', fontFamily: 'Inter, sans-serif' }}&gt;vs 3–5 年&lt;/Text&gt;&#10;          &lt;Text style={{ fontSize: 16, color: '#64748B', marginTop: 4 }}&gt;一代产品周期（约 3–5 代迭代即停产）&lt;/Text&gt;&#10;        &lt;/Box&gt;&#10;      &lt;/Box&gt;&#10;      &lt;Box style={{ width: '100%', height: 200, justifyContent: 'center' }}&gt;&#10;        &lt;svg width='100%' height='180' viewBox='0 0 1080 180'&gt;&#10;          &lt;line x1='40' y1='90' x2='1040' y2='90' stroke='#CBD5E1' strokeWidth='2' /&gt;&#10;          &lt;rect x='40' y='74' width='640' height='32' fill='rgba(37,99,235,0.10)' rx='4' /&gt;&#10;          &lt;rect x='680' y='74' width='360' height='32' fill='rgba(249,115,22,0.18)' rx='4' /&gt;&#10;          &lt;text x='360' y='64' textAnchor='middle' fill='#2563EB' fontSize='18' fontWeight='bold'&gt;通用生命周期政策覆盖区&lt;/text&gt;&#10;          &lt;text x='860' y='64' textAnchor='middle' fill='#F97316' fontSize='18' fontWeight='bold'&gt;政策空白期&lt;/text&gt;&#10;          &lt;g fill='#2563EB'&gt;&#10;            &lt;circle cx='40' cy='90' r='6' /&gt;&lt;circle cx='280' cy='90' r='6' /&gt;&lt;circle cx='520' cy='90' r='6' /&gt;&lt;circle cx='760' cy='90' r='6' /&gt;&#10;          &lt;/g&gt;&#10;          &lt;circle cx='1040' cy='90' r='7' fill='#F97316' /&gt;&#10;          &lt;text x='40' y='120' textAnchor='middle' fill='#64748B' fontSize='15'&gt;0&lt;/text&gt;&#10;          &lt;text x='280' y='120' textAnchor='middle' fill='#64748B' fontSize='15'&gt;约5年&lt;/text&gt;&#10;          &lt;text x='520' y='120' textAnchor='middle' fill='#64748B' fontSize='15'&gt;约10年&lt;/text&gt;&#10;          &lt;text x='760' y='120' textAnchor='middle' fill='#64748B' fontSize='15'&gt;约10年+&lt;/text&gt;&#10;          &lt;text x='1040' y='120' textAnchor='middle' fill='#F97316' fontSize='15' fontWeight='bold'&gt;15年&lt;/text&gt;&#10;          &lt;text x='760' y='150' textAnchor='middle' fill='#F97316' fontSize='14'&gt;通用政策撑不到这里&lt;/text&gt;&#10;          &lt;text x='1040' y='150' textAnchor='middle' fill='#1E293B' fontSize='14' fontWeight='bold'&gt;设备仍在役&lt;/text&gt;&#10;        &lt;/svg&gt;&#10;      &lt;/Box&gt;&#10;      &lt;Text style={{ fontSize: 15, color: '#475569', lineHeight: 1.7 }}&gt;&#10;        华为的 EOM / EOFS / EOS 生命周期管理规范我们认可；但通用政策大约撑到第 10 年，&lt;span style={{ color: '#F97316', fontWeight: 'bold' }}&gt;第 10–15 年是空白期&lt;/span&gt;。责任刻度是运营周期，不是产品周期——这正是华为在 D 支柱能发挥关键作用的基础。&#10;      &lt;/Text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9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PILLAR D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全生命周期自主可控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D ·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全生命周期自主可控：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15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年的承诺，谁来兜底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1524000"/>
            <a:ext cx="20859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97316"/>
                </a:solidFill>
                <a:latin typeface="Inter"/>
                <a:ea typeface="Inter"/>
              </a:rPr>
              <a:t>15</a:t>
            </a:r>
            <a:r>
              <a:rPr lang="zh-CN" sz="7200" b="1">
                <a:solidFill>
                  <a:srgbClr val="F97316"/>
                </a:solidFill>
                <a:latin typeface="Inter"/>
                <a:ea typeface="Inter"/>
              </a:rPr>
              <a:t>年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266700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通信设备设计寿命</a:t>
            </a:r>
            <a:r>
              <a:rPr lang="en-US" sz="1200">
                <a:solidFill>
                  <a:srgbClr val="475569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责任刻度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114675" y="2076450"/>
            <a:ext cx="26384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4748B"/>
                </a:solidFill>
                <a:latin typeface="Inter"/>
                <a:ea typeface="Inter"/>
              </a:rPr>
              <a:t>vs 3–5 </a:t>
            </a:r>
            <a:r>
              <a:rPr lang="zh-CN" sz="3000" b="1">
                <a:solidFill>
                  <a:srgbClr val="64748B"/>
                </a:solidFill>
                <a:latin typeface="Inter"/>
                <a:ea typeface="Inter"/>
              </a:rPr>
              <a:t>年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114675" y="2571750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一代产品周期（约</a:t>
            </a:r>
            <a:r>
              <a:rPr lang="en-US" sz="1200">
                <a:solidFill>
                  <a:srgbClr val="64748B"/>
                </a:solidFill>
                <a:latin typeface="Source Han Sans SC"/>
                <a:ea typeface="Source Han Sans SC"/>
              </a:rPr>
              <a:t> 3–5 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代迭代即停产）</a:t>
            </a:r>
            <a:endParaRPr/>
          </a:p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3124200"/>
            <a:ext cx="11049000" cy="171450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5105400"/>
            <a:ext cx="11049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华为的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EOM / EOFS / EOS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生命周期管理规范我们认可；但通用政策大约撑到第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10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年，</a:t>
            </a:r>
            <a:r>
              <a:rPr lang="zh-CN" sz="1125" b="1">
                <a:solidFill>
                  <a:srgbClr val="F97316"/>
                </a:solidFill>
                <a:latin typeface="Source Han Sans SC"/>
                <a:ea typeface="Source Han Sans SC"/>
              </a:rPr>
              <a:t>第</a:t>
            </a:r>
            <a:r>
              <a:rPr lang="en-US" sz="1125" b="1">
                <a:solidFill>
                  <a:srgbClr val="F97316"/>
                </a:solidFill>
                <a:latin typeface="Source Han Sans SC"/>
                <a:ea typeface="Source Han Sans SC"/>
              </a:rPr>
              <a:t> 10–15 </a:t>
            </a:r>
            <a:r>
              <a:rPr lang="zh-CN" sz="1125" b="1">
                <a:solidFill>
                  <a:srgbClr val="F97316"/>
                </a:solidFill>
                <a:latin typeface="Source Han Sans SC"/>
                <a:ea typeface="Source Han Sans SC"/>
              </a:rPr>
              <a:t>年是空白期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。责任刻度是运营周期，不是产品周期——这正是华为在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D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支柱能发挥关键作用的基础。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'1280px', height: '720px', padding: '20px 60px', background: '#FFFFFF', fontFamily: &quot;'Source Han Sans SC', 'PingFang SC', 'Microsoft YaHei', sans-serif&quot; }}&gt;&#13;&#10;  &lt;Box style={{ flexDirection: 'column', height: '100%' }}&gt;&#13;&#10;    &lt;Box style={{ height: 80 }}&gt;&#13;&#10;      &lt;Text style={{ fontSize: 14, color: '#2563EB', fontWeight: 'bold', letterSpacing: 4, marginBottom: 6 }}&gt;PILLAR D · 时间轴支撑&lt;/Text&gt;&#13;&#10;      &lt;Text style={{ fontSize: 34, color: '#1E293B', fontWeight: 'bold' }}&gt;D · 按时间轴拼起 0–15 年的四段支撑&lt;/Text&gt;&#13;&#10;    &lt;/Box&gt;&#13;&#10;    &lt;Box style={{ flex: 1, flexDirection: 'row', gap: 40, paddingTop: 8, alignItems: 'stretch' }}&gt;&#13;&#10;      &lt;Box style={{ width: 300, background: 'linear-gradient(135deg,#0EA5E9 0%,#2563EB 100%)', borderRadius: 16, justifyContent: 'center', padding: '0 32px' }}&gt;&#13;&#10;        &lt;Text style={{ fontSize: 110, color: '#FFFFFF', fontWeight: 'bold', fontFamily: 'Inter, sans-serif', lineHeight: 1 }}&gt;D&lt;/Text&gt;&#13;&#10;        &lt;Text style={{ fontSize: 22, color: '#FFFFFF', fontWeight: 'bold', marginTop: 8 }}&gt;四段支撑&lt;/Text&gt;&#13;&#10;        &lt;Box style={{ width: 48, height: 3, background: '#F97316', marginTop: 14 }} /&gt;&#13;&#10;        &lt;Text style={{ fontSize: 15, color: 'rgba(255,255,255,0.88)', lineHeight: 1.7, marginTop: 14 }}&gt;四段拼齐，才覆盖设备从投用到退役的完整 15 年。&lt;/Text&gt;&#13;&#10;      &lt;/Box&gt;&#13;&#10;      &lt;Box style={{ flex: 1, flexDirection: 'column', justifyContent: 'center', gap: 14 }}&gt;&#13;&#10;        &lt;Box style={{ flexDirection: 'row', gap: 14, alignItems: 'center' }}&gt;&#13;&#10;          &lt;Box style={{ padding: '6px 14px', background: '#2563EB', borderRadius: 6, minWidth: 96, alignItems: 'center' }}&gt;&lt;Text style={{ fontSize: 15, color: '#FFFFFF', fontWeight: 'bold' }}&gt;洞察规划&lt;/Text&gt;&lt;/Box&gt;&#13;&#10;          &lt;Box style={{ minWidth: 96 }}&gt;&lt;Text style={{ fontSize: 14, color: '#64748B' }}&gt;投产前 ≥2 年&lt;/Text&gt;&lt;/Box&gt;&#13;&#10;          &lt;Box style={{ flex: 1 }}&gt;&lt;Text style={{ fontSize: 15, color: '#475569', lineHeight: 1.5 }}&gt;停产前提前告知，给出替代路标，让我们有时间做切换预案。&lt;/Text&gt;&lt;/Box&gt;&#13;&#10;        &lt;/Box&gt;&#13;&#10;        &lt;Box style={{ height: 1, background: '#E5E7EB' }} /&gt;&#13;&#10;        &lt;Box style={{ flexDirection: 'row', gap: 14, alignItems: 'center' }}&gt;&#13;&#10;          &lt;Box style={{ padding: '6px 14px', background: '#0EA5E9', borderRadius: 6, minWidth: 96, alignItems: 'center' }}&gt;&lt;Text style={{ fontSize: 15, color: '#FFFFFF', fontWeight: 'bold' }}&gt;工程支撑&lt;/Text&gt;&lt;/Box&gt;&#13;&#10;          &lt;Box style={{ minWidth: 96 }}&gt;&lt;Text style={{ fontSize: 14, color: '#64748B' }}&gt;更新期&lt;/Text&gt;&lt;/Box&gt;&#13;&#10;          &lt;Box style={{ flex: 1 }}&gt;&lt;Text style={{ fontSize: 15, color: '#475569', lineHeight: 1.5 }}&gt;新设备平滑替换旧设备，接口与功能向下兼容，不中断运营。&lt;/Text&gt;&lt;/Box&gt;&#13;&#10;        &lt;/Box&gt;&#13;&#10;        &lt;Box style={{ height: 1, background: '#E5E7EB' }} /&gt;&#13;&#10;        &lt;Box style={{ flexDirection: 'row', gap: 14, alignItems: 'center' }}&gt;&#13;&#10;          &lt;Box style={{ padding: '6px 14px', background: '#2563EB', borderRadius: 6, minWidth: 96, alignItems: 'center' }}&gt;&lt;Text style={{ fontSize: 15, color: '#FFFFFF', fontWeight: 'bold' }}&gt;应急维稳&lt;/Text&gt;&lt;/Box&gt;&#13;&#10;          &lt;Box style={{ minWidth: 96 }}&gt;&lt;Text style={{ fontSize: 14, color: '#64748B' }}&gt;突发期&lt;/Text&gt;&lt;/Box&gt;&#13;&#10;          &lt;Box style={{ flex: 1 }}&gt;&lt;Text style={{ fontSize: 15, color: '#475569', lineHeight: 1.5 }}&gt;定制化感知能力与现场技术支援，异常时第一时间顶上。&lt;/Text&gt;&lt;/Box&gt;&#13;&#10;        &lt;/Box&gt;&#13;&#10;        &lt;Box style={{ height: 1, background: '#E5E7EB' }} /&gt;&#13;&#10;        &lt;Box style={{ flexDirection: 'row', gap: 14, alignItems: 'center' }}&gt;&#13;&#10;          &lt;Box style={{ padding: '6px 14px', background: '#F97316', borderRadius: 6, minWidth: 96, alignItems: 'center' }}&gt;&lt;Text style={{ fontSize: 15, color: '#FFFFFF', fontWeight: 'bold' }}&gt;长期延续&lt;/Text&gt;&lt;/Box&gt;&#13;&#10;          &lt;Box style={{ minWidth: 96 }}&gt;&lt;Text style={{ fontSize: 14, color: '#64748B' }}&gt;EOS 之后&lt;/Text&gt;&lt;/Box&gt;&#13;&#10;          &lt;Box style={{ flex: 1 }}&gt;&lt;Text style={{ fontSize: 15, color: '#475569', lineHeight: 1.5 }}&gt;EOS 后仍提供技术支持与向下兼容备件，补上第 10–15 年空白期。&lt;/Text&gt;&lt;/Box&gt;&#13;&#10;        &lt;/Box&gt;&#13;&#10;        &lt;Box style={{ marginTop: 8, padding: '12px 16px', background: 'rgba(249,115,22,0.08)', borderLeft: '4px solid #F97316', borderRadius: 6 }}&gt;&#13;&#10;          &lt;Text style={{ fontSize: 14, color: '#1E293B', lineHeight: 1.6 }}&gt;这也正是我们要问作为&lt;span style={{ fontWeight: 'bold' }}&gt;战略合作伙伴&lt;/span&gt;的华为：愿不愿意一起，把 15 年走完。&lt;/Text&gt;&#13;&#10;        &lt;/Box&gt;&#13;&#10;      &lt;/Box&gt;&#13;&#10;    &lt;/Box&gt;&#13;&#10;    &lt;Box style={{ height: 48, flexDirection: 'row', justifyContent: 'space-between', alignItems: 'center', borderTop: '1px solid #E5E7EB' }}&gt;&#13;&#10;      &lt;Text style={{ fontSize: 13, color: '#94A3B8' }}&gt;上海地铁通号 × 华为 · 安全交流&lt;/Text&gt;&#13;&#10;      &lt;Text style={{ fontSize: 13, color: '#94A3B8' }}&gt;10 / 11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PILLAR D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时间轴支撑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D ·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按时间轴拼起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 0–15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年的四段支撑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028700"/>
            <a:ext cx="2857500" cy="51816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0EA5E9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22479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FFFFFF"/>
                </a:solidFill>
                <a:latin typeface="Inter"/>
                <a:ea typeface="Inter"/>
              </a:rPr>
              <a:t>D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76300" y="37147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四段支撑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76300" y="4105275"/>
            <a:ext cx="457200" cy="2857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76300" y="4267200"/>
            <a:ext cx="2247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四段拼齐，才覆盖设备从投用到退役的完整</a:t>
            </a:r>
            <a:r>
              <a:rPr lang="en-US" sz="1125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 15 </a:t>
            </a:r>
            <a:r>
              <a:rPr lang="zh-CN" sz="1125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年。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810000" y="2286000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981450" y="2343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洞察规划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857750" y="23526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投产前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 ≥2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年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905500" y="23050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停产前提前告知，给出替代路标，让我们有时间做切换预案。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810000" y="2705100"/>
            <a:ext cx="7810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3810000" y="2847975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981450" y="2905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工程支撑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857750" y="29146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更新期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0" y="286702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新设备平滑替换旧设备，接口与功能向下兼容，不中断运营。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3810000" y="3267075"/>
            <a:ext cx="7810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3810000" y="3409950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981450" y="3467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应急维稳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857750" y="347662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突发期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905500" y="342900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定制化感知能力与现场技术支援，异常时第一时间顶上。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810000" y="3829050"/>
            <a:ext cx="7810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3810000" y="3971925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81450" y="40290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长期延续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857750" y="40386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EOS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之后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905500" y="399097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EOS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后仍提供技术支持与向下兼容备件，补上第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10–15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年空白期。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848100" y="4467225"/>
            <a:ext cx="7810500" cy="485775"/>
          </a:xfrm>
          <a:prstGeom prst="roundRect">
            <a:avLst>
              <a:gd name="adj" fmla="val 11765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3848100" y="4467225"/>
            <a:ext cx="7810500" cy="485775"/>
          </a:xfrm>
          <a:custGeom>
            <a:pathLst>
              <a:path w="820" h="5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9"/>
                </a:lnTo>
                <a:cubicBezTo>
                  <a:pt x="4" y="50"/>
                  <a:pt x="5" y="51"/>
                  <a:pt x="6" y="51"/>
                </a:cubicBezTo>
                <a:cubicBezTo>
                  <a:pt x="3" y="51"/>
                  <a:pt x="0" y="48"/>
                  <a:pt x="0" y="4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000500" y="4581525"/>
            <a:ext cx="7467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这也正是我们要问作为</a:t>
            </a:r>
            <a:r>
              <a:rPr lang="zh-CN" sz="1050" b="1">
                <a:solidFill>
                  <a:srgbClr val="1E293B"/>
                </a:solidFill>
                <a:latin typeface="Source Han Sans SC"/>
                <a:ea typeface="Source Han Sans SC"/>
              </a:rPr>
              <a:t>战略合作伙伴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的华为：愿不愿意一起，把</a:t>
            </a:r>
            <a:r>
              <a:rPr lang="en-US" sz="1050">
                <a:solidFill>
                  <a:srgbClr val="1E293B"/>
                </a:solidFill>
                <a:latin typeface="Source Han Sans SC"/>
                <a:ea typeface="Source Han Sans SC"/>
              </a:rPr>
              <a:t> 15 </a:t>
            </a:r>
            <a:r>
              <a:rPr lang="zh-CN" sz="1050">
                <a:solidFill>
                  <a:srgbClr val="1E293B"/>
                </a:solidFill>
                <a:latin typeface="Source Han Sans SC"/>
                <a:ea typeface="Source Han Sans SC"/>
              </a:rPr>
              <a:t>年走完。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6" name="" descr="&lt;Slide style={{ width: '1280px', height: '720px', background: '#0F2A5E', fontFamily: &quot;'Source Han Sans SC', 'PingFang SC', 'Microsoft YaHei', sans-serif&quot; }}&gt;&#10;  &lt;Box style={{ position: 'absolute', left: 0, top: 0, right: 0, bottom: 0 }}&gt;&#10;    &lt;Image src=&quot;assets/cover_metro.png&quot; style={{ width: '100%', height: '100%', objectFit: 'cover' }} /&gt;&#10;    &lt;Box style={{ position: 'absolute', left: 0, top: 0, right: 0, bottom: 0, background: 'linear-gradient(135deg, rgba(15,42,94,0.82) 0%, rgba(30,64,175,0.66) 100%)' }} /&gt;&#10;  &lt;/Box&gt;&#10;  &lt;Box style={{ position: 'absolute', left: 0, top: 0, right: 0, bottom: 0, flexDirection: 'column', justifyContent: 'center', alignItems: 'center', padding: '0 120px' }}&gt;&#10;    &lt;Text style={{ fontSize: 14, color: '#93C5FD', fontWeight: 'bold', letterSpacing: 6, marginBottom: 22 }}&gt;SHANGHAI METRO · HUAWEI&lt;/Text&gt;&#10;    &lt;Text style={{ fontSize: 52, color: '#FFFFFF', fontWeight: 'bold', textAlign: 'center', lineHeight: 1.35 }}&gt;&#10;      把下一个十年，&lt;br /&gt;交给能陪跑 15 年的伙伴&#10;    &lt;/Text&gt;&#10;    &lt;Box style={{ width: 64, height: 4, background: '#F97316', marginTop: 28, marginBottom: 28 }} /&gt;&#10;    &lt;Text style={{ fontSize: 20, color: 'rgba(255,255,255,0.92)', textAlign: 'center', lineHeight: 1.8, maxWidth: 860 }}&gt;&#10;      A · B · C · D 是四个合作接口面，也是华为作为战略合作伙伴与我们共建的着力点。&lt;br /&gt;产品越可靠、四接口越扎实，我们才越敢把通信、信号系统的运行安全托付出去。&#10;    &lt;/Text&gt;&#10;    &lt;Text style={{ fontSize: 22, color: '#FFFFFF', fontWeight: 'bold', marginTop: 36, letterSpacing: 2 }}&gt;谢谢&lt;/Text&gt;&#10;  &lt;/Box&gt;&#10;  &lt;Box style={{ position: 'absolute', left: 0, right: 0, bottom: 0, height: 46, flexDirection: 'row', justifyContent: 'space-between', alignItems: 'center', padding: '0 56px' }}&gt;&#10;    &lt;Text style={{ fontSize: 13, color: 'rgba(255,255,255,0.7)' }}&gt;上海地铁通号 × 华为 · 安全交流&lt;/Text&gt;&#10;    &lt;Text style={{ fontSize: 13, color: 'rgba(255,255,255,0.7)' }}&gt;11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A5E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82000"/>
                </a:srgbClr>
              </a:gs>
              <a:gs pos="100000">
                <a:srgbClr val="1E40AF">
                  <a:alpha val="6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429125" y="14382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450">
                <a:solidFill>
                  <a:srgbClr val="93C5FD"/>
                </a:solidFill>
                <a:latin typeface="Source Han Sans SC"/>
                <a:ea typeface="Source Han Sans SC"/>
              </a:rPr>
              <a:t>SHANGHAI METRO · HUAWEI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409950" y="1809750"/>
            <a:ext cx="5372100" cy="16097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把下一个十年，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交给能陪跑</a:t>
            </a:r>
            <a:r>
              <a:rPr lang="en-US" sz="3900" b="1">
                <a:solidFill>
                  <a:srgbClr val="FFFFFF"/>
                </a:solidFill>
                <a:latin typeface="Source Han Sans SC"/>
                <a:ea typeface="Source Han Sans SC"/>
              </a:rPr>
              <a:t> 15 </a:t>
            </a: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年的伙伴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91200" y="3686175"/>
            <a:ext cx="6096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609850" y="3990975"/>
            <a:ext cx="69723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5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A · B · C · D </a:t>
            </a:r>
            <a:r>
              <a:rPr lang="zh-CN" sz="15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是四个合作接口面，也是华为作为战略合作伙伴与我们共建的着力点。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5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产品越可靠、四接口越扎实，我们才越敢把通信、信号系统的运行安全托付出去。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867400" y="516255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FFFFFF"/>
                </a:solidFill>
                <a:latin typeface="Source Han Sans SC"/>
                <a:ea typeface="Source Han Sans SC"/>
              </a:rPr>
              <a:t>谢谢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33400" y="65627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0" y="65627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2026-09-09T23:32:23Z</dcterms:created>
  <dcterms:modified xsi:type="dcterms:W3CDTF">2026-09-09T23:32:23Z</dcterms:modified>
</cp:coreProperties>
</file>